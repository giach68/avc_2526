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4"/>
  </p:sldMasterIdLst>
  <p:notesMasterIdLst>
    <p:notesMasterId r:id="rId21"/>
  </p:notesMasterIdLst>
  <p:handoutMasterIdLst>
    <p:handoutMasterId r:id="rId22"/>
  </p:handoutMasterIdLst>
  <p:sldIdLst>
    <p:sldId id="351" r:id="rId5"/>
    <p:sldId id="362" r:id="rId6"/>
    <p:sldId id="353" r:id="rId7"/>
    <p:sldId id="372" r:id="rId8"/>
    <p:sldId id="371" r:id="rId9"/>
    <p:sldId id="363" r:id="rId10"/>
    <p:sldId id="364" r:id="rId11"/>
    <p:sldId id="373" r:id="rId12"/>
    <p:sldId id="368" r:id="rId13"/>
    <p:sldId id="369" r:id="rId14"/>
    <p:sldId id="365" r:id="rId15"/>
    <p:sldId id="374" r:id="rId16"/>
    <p:sldId id="366" r:id="rId17"/>
    <p:sldId id="375" r:id="rId18"/>
    <p:sldId id="367" r:id="rId19"/>
    <p:sldId id="370" r:id="rId20"/>
  </p:sldIdLst>
  <p:sldSz cx="13439775" cy="7559675"/>
  <p:notesSz cx="7104063" cy="10234613"/>
  <p:embeddedFontLst>
    <p:embeddedFont>
      <p:font typeface="Abadi" panose="020B0604020104020204" pitchFamily="34" charset="0"/>
      <p:regular r:id="rId23"/>
      <p:bold r:id="rId24"/>
      <p:italic r:id="rId25"/>
      <p:boldItalic r:id="rId26"/>
    </p:embeddedFont>
    <p:embeddedFont>
      <p:font typeface="Qlassik Bold" panose="05070000000000000000" pitchFamily="18" charset="0"/>
      <p:bold r:id="rId27"/>
    </p:embeddedFont>
    <p:embeddedFont>
      <p:font typeface="Qlassik Medium" panose="05070000000000000000" pitchFamily="18" charset="0"/>
      <p:regular r:id="rId28"/>
    </p:embeddedFont>
    <p:embeddedFont>
      <p:font typeface="Rockwell" panose="02060603020205020403" pitchFamily="18" charset="0"/>
      <p:regular r:id="rId29"/>
      <p:bold r:id="rId30"/>
      <p:italic r:id="rId31"/>
      <p:boldItalic r:id="rId32"/>
    </p:embeddedFont>
    <p:embeddedFont>
      <p:font typeface="Sketch Block" panose="02000000000000000000" pitchFamily="2" charset="0"/>
      <p:regular r:id="rId33"/>
    </p:embeddedFont>
    <p:embeddedFont>
      <p:font typeface="StarSymbol" panose="05000000000000000000" pitchFamily="2" charset="0"/>
      <p:regular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4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032" autoAdjust="0"/>
  </p:normalViewPr>
  <p:slideViewPr>
    <p:cSldViewPr>
      <p:cViewPr varScale="1">
        <p:scale>
          <a:sx n="44" d="100"/>
          <a:sy n="44" d="100"/>
        </p:scale>
        <p:origin x="96" y="33"/>
      </p:cViewPr>
      <p:guideLst>
        <p:guide orient="horz" pos="2381"/>
        <p:guide pos="42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3802" y="1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Segnaposto data 2"/>
          <p:cNvSpPr txBox="1">
            <a:spLocks noGrp="1"/>
          </p:cNvSpPr>
          <p:nvPr>
            <p:ph type="dt" sz="quarter" idx="1"/>
          </p:nvPr>
        </p:nvSpPr>
        <p:spPr>
          <a:xfrm>
            <a:off x="4021162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algn="r"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piè di pagina 3"/>
          <p:cNvSpPr txBox="1">
            <a:spLocks noGrp="1"/>
          </p:cNvSpPr>
          <p:nvPr>
            <p:ph type="ftr" sz="quarter" idx="2"/>
          </p:nvPr>
        </p:nvSpPr>
        <p:spPr>
          <a:xfrm>
            <a:off x="0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5" name="Segnaposto numero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4021162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algn="r" hangingPunct="0">
              <a:defRPr sz="1400"/>
            </a:pPr>
            <a:fld id="{E74C1C3F-7EE1-4583-9610-50D269EDCB3D}" type="slidenum">
              <a:pPr algn="r" hangingPunct="0">
                <a:defRPr sz="1400"/>
              </a:pPr>
              <a:t>‹N›</a:t>
            </a:fld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76607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>
            <a:spLocks noMove="1" noResize="1"/>
          </p:cNvSpPr>
          <p:nvPr/>
        </p:nvSpPr>
        <p:spPr>
          <a:xfrm>
            <a:off x="0" y="0"/>
            <a:ext cx="7104368" cy="10234792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2746" rIns="85491" bIns="42746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Figura a mano libera 2"/>
          <p:cNvSpPr/>
          <p:nvPr/>
        </p:nvSpPr>
        <p:spPr>
          <a:xfrm>
            <a:off x="0" y="0"/>
            <a:ext cx="7105045" cy="10236170"/>
          </a:xfrm>
          <a:custGeom>
            <a:avLst>
              <a:gd name="f0" fmla="val 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4455" rIns="85491" bIns="44455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5643225" y="-7366000"/>
            <a:ext cx="31288038" cy="17600613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5" name="Segnaposto note 4"/>
          <p:cNvSpPr txBox="1">
            <a:spLocks noGrp="1"/>
          </p:cNvSpPr>
          <p:nvPr>
            <p:ph type="body" sz="quarter" idx="3"/>
          </p:nvPr>
        </p:nvSpPr>
        <p:spPr>
          <a:xfrm>
            <a:off x="709422" y="4861699"/>
            <a:ext cx="5681465" cy="46049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65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0" rtl="0" hangingPunct="0">
      <a:tabLst/>
      <a:defRPr lang="it-IT" sz="2000" b="0" i="0" u="none" strike="noStrike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32426"/>
          </a:xfrm>
        </p:spPr>
        <p:txBody>
          <a:bodyPr>
            <a:spAutoFit/>
          </a:bodyPr>
          <a:lstStyle/>
          <a:p>
            <a:endParaRPr lang="it-IT" sz="2810" kern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368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07457" y="2347918"/>
            <a:ext cx="11424867" cy="1620837"/>
          </a:xfrm>
        </p:spPr>
        <p:txBody>
          <a:bodyPr/>
          <a:lstStyle>
            <a:lvl1pPr>
              <a:buFontTx/>
              <a:buNone/>
              <a:defRPr sz="66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017027" y="4283075"/>
            <a:ext cx="9407842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6EBAFA6F-A175-49C2-8252-7701C7A6E05E}" type="datetime1">
              <a:rPr lang="it-IT" smtClean="0"/>
              <a:t>28/04/2026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55BC8DA-C10C-404D-8B72-5A3EDF8878D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282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552B5D0F-6662-4BF0-BC85-0D5D01C97B99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B04B791-897E-4328-B3FD-2D81E4AD606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094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62483" y="4857755"/>
            <a:ext cx="11422751" cy="1501775"/>
          </a:xfrm>
        </p:spPr>
        <p:txBody>
          <a:bodyPr anchor="t"/>
          <a:lstStyle>
            <a:lvl1pPr algn="l">
              <a:buFontTx/>
              <a:buNone/>
              <a:defRPr sz="5400" b="1" cap="all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2483" y="3203577"/>
            <a:ext cx="11422751" cy="1654175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53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1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815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69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72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77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6312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243C938-D463-4A53-B53C-6DCD3CCE9B26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4CF43EEC-617B-4860-93DC-558AFDA2912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985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2040" y="1681163"/>
            <a:ext cx="6216160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7001383" y="1681163"/>
            <a:ext cx="5855366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6CC58CFC-0841-4453-AF46-0EB21859D81E}" type="datetime1">
              <a:rPr lang="it-IT" smtClean="0"/>
              <a:t>28/04/2026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F158BD1-7A9B-4461-A385-B543F473307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46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9" y="303218"/>
            <a:ext cx="12095798" cy="1258887"/>
          </a:xfrm>
        </p:spPr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73047" y="1692275"/>
            <a:ext cx="5936783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73047" y="2397125"/>
            <a:ext cx="5936783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827831" y="1692275"/>
            <a:ext cx="5941016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827831" y="2397125"/>
            <a:ext cx="5941016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39058E24-A2AD-41DC-B602-AEC92F6A78F1}" type="datetime1">
              <a:rPr lang="it-IT" smtClean="0"/>
              <a:t>28/04/2026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A2F18FA-F34A-48B2-B8AB-ABDE98A2E6CA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77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D2C44317-C086-4ECC-AF39-484C4618618D}" type="datetime1">
              <a:rPr lang="it-IT" smtClean="0"/>
              <a:t>28/04/2026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25/26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C645D62E-CFA1-4826-879F-F4B5BC17AD5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26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86E0D9B-2051-40DF-A6BA-7D32D81D2E7D}" type="datetime1">
              <a:rPr lang="it-IT" smtClean="0"/>
              <a:t>28/04/2026</a:t>
            </a:fld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5A7C861E-D030-43FF-AC94-E2D5143DF10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97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7" y="301630"/>
            <a:ext cx="4421369" cy="127952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255273" y="301625"/>
            <a:ext cx="7513575" cy="6451600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73047" y="1581154"/>
            <a:ext cx="4421369" cy="5172075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7F5C13F-6E8F-4B41-B8C7-4A3BF520F376}" type="datetime1">
              <a:rPr lang="it-IT" smtClean="0"/>
              <a:t>28/04/2026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6B80B6E-A4D6-4411-B888-14C3E70F21A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90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635046" y="5291143"/>
            <a:ext cx="8063865" cy="62547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635046" y="674693"/>
            <a:ext cx="8063865" cy="4537075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635046" y="5916613"/>
            <a:ext cx="8063865" cy="887412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0AB42A9-7E1B-42F2-B7F7-23C8378D7350}" type="datetime1">
              <a:rPr lang="it-IT" smtClean="0"/>
              <a:t>28/04/2026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E76AA5-F148-42C4-A2A9-57D958F3988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07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7F8092B-8E16-4396-8B77-FD74B63B3A21}" type="datetime1">
              <a:rPr lang="it-IT" smtClean="0"/>
              <a:t>28/04/2026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A1C91C-D157-48DC-9B11-DE3A292616F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832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10061841" y="122243"/>
            <a:ext cx="3157818" cy="654843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582038" y="122243"/>
            <a:ext cx="9276619" cy="654843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9950146-0115-4787-A64F-267F18700D1A}" type="datetime1">
              <a:rPr lang="it-IT" smtClean="0"/>
              <a:t>28/04/2026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01E018E-FCA6-4918-88A3-3822F9A4166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945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89" y="302737"/>
            <a:ext cx="12095798" cy="12599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71988" y="1763925"/>
            <a:ext cx="5935901" cy="4989036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1887" y="1763925"/>
            <a:ext cx="5935901" cy="49890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50BCA3-1779-4980-8FE2-B33CA518DB18}" type="datetime1">
              <a:rPr lang="it-IT" smtClean="0"/>
              <a:t>28/04/2026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AVC 25/26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1D4BC3-C9B1-47AE-8C50-FA0E2EF8A16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5931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4976" y="73497"/>
            <a:ext cx="12255319" cy="826517"/>
          </a:xfrm>
          <a:prstGeom prst="rect">
            <a:avLst/>
          </a:prstGeom>
          <a:solidFill>
            <a:srgbClr val="185C72">
              <a:alpha val="60000"/>
            </a:srgbClr>
          </a:solidFill>
          <a:ln>
            <a:noFill/>
          </a:ln>
        </p:spPr>
        <p:txBody>
          <a:bodyPr anchor="ctr"/>
          <a:lstStyle>
            <a:lvl1pPr>
              <a:defRPr lang="de-CH" sz="3527" dirty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93743" y="1128241"/>
            <a:ext cx="12724038" cy="520243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03921" y="6709211"/>
            <a:ext cx="7661556" cy="755968"/>
          </a:xfrm>
          <a:prstGeom prst="rect">
            <a:avLst/>
          </a:prstGeom>
        </p:spPr>
        <p:txBody>
          <a:bodyPr anchor="ctr"/>
          <a:lstStyle>
            <a:lvl1pPr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CH"/>
              <a:t>AVC 25/26</a:t>
            </a:r>
            <a:endParaRPr lang="de-CH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65478" y="6709211"/>
            <a:ext cx="760409" cy="755968"/>
          </a:xfrm>
          <a:prstGeom prst="rect">
            <a:avLst/>
          </a:prstGeom>
        </p:spPr>
        <p:txBody>
          <a:bodyPr anchor="ctr"/>
          <a:lstStyle>
            <a:lvl1pPr algn="r"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3B5F642D-6A31-4596-8C22-CC368C1BDF36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99094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671989" y="167993"/>
            <a:ext cx="12095798" cy="1343942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38259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2"/>
          <p:cNvSpPr txBox="1">
            <a:spLocks noGrp="1"/>
          </p:cNvSpPr>
          <p:nvPr>
            <p:ph type="title"/>
          </p:nvPr>
        </p:nvSpPr>
        <p:spPr>
          <a:xfrm>
            <a:off x="762180" y="122400"/>
            <a:ext cx="12094568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 dirty="0"/>
          </a:p>
        </p:txBody>
      </p:sp>
      <p:sp>
        <p:nvSpPr>
          <p:cNvPr id="4" name="Segnaposto testo 3"/>
          <p:cNvSpPr txBox="1">
            <a:spLocks noGrp="1"/>
          </p:cNvSpPr>
          <p:nvPr>
            <p:ph type="body" idx="1"/>
          </p:nvPr>
        </p:nvSpPr>
        <p:spPr>
          <a:xfrm>
            <a:off x="582196" y="1681200"/>
            <a:ext cx="12274555" cy="4989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None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defPPr>
            <a:lvl1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Char char="·"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1pPr>
            <a:lvl2pPr marL="864000" marR="0" lvl="1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579D1C"/>
              </a:buClr>
              <a:buSzPct val="85000"/>
              <a:buFont typeface="Symbol"/>
              <a:buChar char="·"/>
              <a:tabLst>
                <a:tab pos="18000" algn="l"/>
              </a:tabLst>
              <a:defRPr lang="it-IT" sz="28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2pPr>
            <a:lvl3pPr marL="1295999" marR="0" lvl="2" indent="-288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9999FF"/>
              </a:buClr>
              <a:buSzPct val="75000"/>
              <a:buFont typeface="Symbol"/>
              <a:buChar char="·"/>
              <a:tabLst>
                <a:tab pos="18000" algn="l"/>
              </a:tabLst>
              <a:defRPr lang="it-IT" sz="26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3pPr>
            <a:lvl4pPr marL="1728000" marR="0" lvl="3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70000"/>
              <a:buFont typeface="Symbol"/>
              <a:buChar char="·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4pPr>
            <a:lvl5pPr marL="2160000" marR="0" lvl="4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5pPr>
            <a:lvl6pPr marL="2592000" marR="0" lvl="5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6pPr>
            <a:lvl7pPr marL="3024000" marR="0" lvl="6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7pPr>
            <a:lvl8pPr marL="3456000" marR="0" lvl="7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8pPr>
            <a:lvl9pPr marL="3887999" marR="0" lvl="8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9pPr>
          </a:lstStyle>
          <a:p>
            <a:pPr lvl="0"/>
            <a:r>
              <a:rPr lang="it-IT" dirty="0"/>
              <a:t>Click to edit the outline text format</a:t>
            </a:r>
          </a:p>
          <a:p>
            <a:pPr lvl="1"/>
            <a:r>
              <a:rPr lang="it-IT" dirty="0"/>
              <a:t>Second Outline Level</a:t>
            </a:r>
          </a:p>
          <a:p>
            <a:pPr lvl="2"/>
            <a:r>
              <a:rPr lang="it-IT" dirty="0"/>
              <a:t>Third Outline Level</a:t>
            </a:r>
          </a:p>
          <a:p>
            <a:pPr lvl="3"/>
            <a:r>
              <a:rPr lang="it-IT" dirty="0"/>
              <a:t>Fourth Outline Level</a:t>
            </a:r>
          </a:p>
          <a:p>
            <a:pPr lvl="4"/>
            <a:r>
              <a:rPr lang="it-IT" dirty="0"/>
              <a:t>Fifth Outline Level</a:t>
            </a:r>
          </a:p>
          <a:p>
            <a:pPr lvl="5"/>
            <a:r>
              <a:rPr lang="it-IT" dirty="0"/>
              <a:t>Sixth Outline Level</a:t>
            </a:r>
          </a:p>
          <a:p>
            <a:pPr lvl="6"/>
            <a:r>
              <a:rPr lang="it-IT" dirty="0"/>
              <a:t>Seventh Outline Level</a:t>
            </a:r>
          </a:p>
          <a:p>
            <a:pPr lvl="7"/>
            <a:r>
              <a:rPr lang="it-IT" dirty="0"/>
              <a:t>Eighth Outline Level</a:t>
            </a:r>
          </a:p>
          <a:p>
            <a:pPr lvl="8"/>
            <a:r>
              <a:rPr lang="it-IT" dirty="0"/>
              <a:t>Ninth Outline Level</a:t>
            </a:r>
          </a:p>
        </p:txBody>
      </p:sp>
      <p:sp>
        <p:nvSpPr>
          <p:cNvPr id="5" name="Segnaposto data 4"/>
          <p:cNvSpPr txBox="1">
            <a:spLocks noGrp="1"/>
          </p:cNvSpPr>
          <p:nvPr>
            <p:ph type="dt" sz="half" idx="2"/>
          </p:nvPr>
        </p:nvSpPr>
        <p:spPr>
          <a:xfrm>
            <a:off x="671946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041711C1-AEE8-48F6-98AE-823A5F20E90B}" type="datetime1">
              <a:rPr lang="it-IT" smtClean="0"/>
              <a:t>28/04/2026</a:t>
            </a:fld>
            <a:endParaRPr lang="it-IT" dirty="0"/>
          </a:p>
        </p:txBody>
      </p:sp>
      <p:sp>
        <p:nvSpPr>
          <p:cNvPr id="6" name="Segnaposto piè di pagina 5"/>
          <p:cNvSpPr txBox="1">
            <a:spLocks noGrp="1"/>
          </p:cNvSpPr>
          <p:nvPr>
            <p:ph type="ftr" sz="quarter" idx="3"/>
          </p:nvPr>
        </p:nvSpPr>
        <p:spPr>
          <a:xfrm>
            <a:off x="4596118" y="7041605"/>
            <a:ext cx="4259665" cy="3668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r>
              <a:rPr lang="it-IT"/>
              <a:t>AVC 25/26</a:t>
            </a:r>
            <a:endParaRPr lang="it-IT" dirty="0"/>
          </a:p>
        </p:txBody>
      </p:sp>
      <p:sp>
        <p:nvSpPr>
          <p:cNvPr id="7" name="Segnaposto numero diapositiva 6"/>
          <p:cNvSpPr txBox="1">
            <a:spLocks noGrp="1"/>
          </p:cNvSpPr>
          <p:nvPr>
            <p:ph type="sldNum" sz="quarter" idx="4"/>
          </p:nvPr>
        </p:nvSpPr>
        <p:spPr>
          <a:xfrm>
            <a:off x="9635721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C520E673-7DC9-43D6-AF14-D86C202CC653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52" y="0"/>
            <a:ext cx="13439423" cy="7559675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8BE3401-8D83-BC07-FBB8-F8C4D91C82E0}"/>
              </a:ext>
            </a:extLst>
          </p:cNvPr>
          <p:cNvSpPr/>
          <p:nvPr userDrawn="1"/>
        </p:nvSpPr>
        <p:spPr>
          <a:xfrm>
            <a:off x="0" y="0"/>
            <a:ext cx="1967359" cy="1979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Immagine che contiene oscurità, Policromia, schermata&#10;&#10;Descrizione generata automaticamente">
            <a:extLst>
              <a:ext uri="{FF2B5EF4-FFF2-40B4-BE49-F238E27FC236}">
                <a16:creationId xmlns:a16="http://schemas.microsoft.com/office/drawing/2014/main" id="{B06A1663-E8F1-30C8-90E8-766907D708E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91" y="183926"/>
            <a:ext cx="3443583" cy="4275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hf hdr="0"/>
  <p:txStyles>
    <p:titleStyle>
      <a:lvl1pPr algn="ctr" rtl="0" hangingPunct="0">
        <a:buFontTx/>
        <a:buNone/>
        <a:tabLst/>
        <a:defRPr lang="it-IT" sz="7199" b="1" i="0" u="none" strike="noStrike" kern="1200">
          <a:ln>
            <a:noFill/>
          </a:ln>
          <a:solidFill>
            <a:srgbClr val="800000"/>
          </a:solidFill>
          <a:latin typeface="Qlassik Bold" pitchFamily="2"/>
        </a:defRPr>
      </a:lvl1pPr>
    </p:titleStyle>
    <p:bodyStyle>
      <a:lvl1pPr lvl="0">
        <a:buClr>
          <a:srgbClr val="800000"/>
        </a:buClr>
        <a:buSzPct val="9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1pPr>
      <a:lvl2pPr lvl="1">
        <a:buClr>
          <a:srgbClr val="579D1C"/>
        </a:buClr>
        <a:buSzPct val="8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2pPr>
      <a:lvl3pPr lvl="2">
        <a:buClr>
          <a:srgbClr val="9999FF"/>
        </a:buClr>
        <a:buSzPct val="7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3pPr>
      <a:lvl4pPr lvl="3">
        <a:buSzPct val="70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4pPr>
      <a:lvl5pPr lvl="4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5pPr>
      <a:lvl6pPr lvl="5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6pPr>
      <a:lvl7pPr lvl="6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7pPr>
      <a:lvl8pPr lvl="7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8pPr>
      <a:lvl9pPr lvl="8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a.giachetti@univr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ibigl.github.io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ibigl.github.io/libigl-python-bindings/tut-chapter1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it-IT" dirty="0"/>
              <a:t>Advanced Visual Computing </a:t>
            </a:r>
            <a:br>
              <a:rPr lang="it-IT" dirty="0"/>
            </a:br>
            <a:r>
              <a:rPr lang="it-IT" dirty="0"/>
              <a:t>(Digital Design)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731" y="4450768"/>
            <a:ext cx="10415296" cy="2575781"/>
          </a:xfrm>
        </p:spPr>
        <p:txBody>
          <a:bodyPr/>
          <a:lstStyle/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Lab 5 – </a:t>
            </a:r>
            <a:r>
              <a:rPr lang="it-IT" sz="2800" dirty="0" err="1">
                <a:latin typeface="Rockwell" panose="02060603020205020403" pitchFamily="18" charset="0"/>
                <a:ea typeface="Chinese Ruler" panose="02000000000000000000" pitchFamily="2" charset="0"/>
              </a:rPr>
              <a:t>meshing</a:t>
            </a: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, curvature, </a:t>
            </a:r>
            <a:r>
              <a:rPr lang="it-IT" sz="2800" dirty="0" err="1">
                <a:latin typeface="Rockwell" panose="02060603020205020403" pitchFamily="18" charset="0"/>
                <a:ea typeface="Chinese Ruler" panose="02000000000000000000" pitchFamily="2" charset="0"/>
              </a:rPr>
              <a:t>smoothing</a:t>
            </a: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, </a:t>
            </a:r>
            <a:r>
              <a:rPr lang="it-IT" sz="2800" dirty="0" err="1">
                <a:latin typeface="Rockwell" panose="02060603020205020403" pitchFamily="18" charset="0"/>
                <a:ea typeface="Chinese Ruler" panose="02000000000000000000" pitchFamily="2" charset="0"/>
              </a:rPr>
              <a:t>spectral</a:t>
            </a: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 </a:t>
            </a:r>
            <a:r>
              <a:rPr lang="it-IT" sz="2800" dirty="0" err="1">
                <a:latin typeface="Rockwell" panose="02060603020205020403" pitchFamily="18" charset="0"/>
                <a:ea typeface="Chinese Ruler" panose="02000000000000000000" pitchFamily="2" charset="0"/>
              </a:rPr>
              <a:t>analysis</a:t>
            </a:r>
            <a:endParaRPr lang="it-IT" sz="2800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Andrea Giachetti University of Verona, Italy</a:t>
            </a:r>
            <a:b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  <a:hlinkClick r:id="rId3"/>
              </a:rPr>
              <a:t>andrea.giachetti@univr.it</a:t>
            </a:r>
            <a:endParaRPr lang="it-IT" sz="2800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pPr lvl="0"/>
            <a:br>
              <a:rPr lang="it-IT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endParaRPr lang="it-IT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endParaRPr lang="it-IT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AA73182-3C38-49CD-8CA6-F753742C0B48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it-IT"/>
              <a:t>AVC 25/26</a:t>
            </a:r>
            <a:endParaRPr lang="it-IT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35B84F-6186-40EE-8B7D-48376816C3AB}" type="slidenum">
              <a:rPr lang="it-IT" smtClean="0"/>
              <a:pPr lvl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055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ED8751-A96B-9C8E-B5D9-919B7EA3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Today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8A8171-66BB-6D8B-388E-7B13EF346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Meshing</a:t>
            </a:r>
            <a:endParaRPr lang="it-IT" dirty="0"/>
          </a:p>
          <a:p>
            <a:r>
              <a:rPr lang="it-IT" dirty="0" err="1"/>
              <a:t>Curvatures</a:t>
            </a:r>
            <a:r>
              <a:rPr lang="it-IT" dirty="0"/>
              <a:t>, </a:t>
            </a:r>
            <a:r>
              <a:rPr lang="it-IT" dirty="0" err="1"/>
              <a:t>smoothing</a:t>
            </a:r>
            <a:endParaRPr lang="it-IT" dirty="0"/>
          </a:p>
          <a:p>
            <a:r>
              <a:rPr lang="it-IT" dirty="0" err="1"/>
              <a:t>Spectral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it-IT" dirty="0"/>
          </a:p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homework</a:t>
            </a:r>
            <a:r>
              <a:rPr lang="it-IT" dirty="0"/>
              <a:t> </a:t>
            </a:r>
            <a:r>
              <a:rPr lang="it-IT" dirty="0" err="1"/>
              <a:t>assignment</a:t>
            </a:r>
            <a:endParaRPr lang="it-IT" dirty="0"/>
          </a:p>
          <a:p>
            <a:pPr marL="10800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C0E5E3-B933-3B5A-4ABA-3292F53C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B303-59B2-4E43-B42C-B52F889E50AC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FC3C7E-6EF4-9117-B81E-D4A7F15C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4ED32B-2E51-DE66-5605-DD62F012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647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27375-7CA0-BFED-8562-F3485DD5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Open 3D </a:t>
            </a:r>
            <a:r>
              <a:rPr lang="it-IT" dirty="0" err="1"/>
              <a:t>functions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536F0F-778D-8B16-F54C-60722BD1A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Open3D features </a:t>
            </a:r>
            <a:r>
              <a:rPr lang="it-IT" dirty="0" err="1"/>
              <a:t>implementations</a:t>
            </a:r>
            <a:r>
              <a:rPr lang="it-IT" dirty="0"/>
              <a:t> of </a:t>
            </a:r>
            <a:r>
              <a:rPr lang="it-IT" dirty="0" err="1"/>
              <a:t>most</a:t>
            </a:r>
            <a:r>
              <a:rPr lang="it-IT" dirty="0"/>
              <a:t> of the </a:t>
            </a:r>
            <a:r>
              <a:rPr lang="it-IT" dirty="0" err="1"/>
              <a:t>methods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described</a:t>
            </a:r>
            <a:r>
              <a:rPr lang="it-IT" dirty="0"/>
              <a:t> in theory</a:t>
            </a:r>
          </a:p>
          <a:p>
            <a:pPr lvl="1"/>
            <a:r>
              <a:rPr lang="it-IT" dirty="0"/>
              <a:t>Alpha </a:t>
            </a:r>
            <a:r>
              <a:rPr lang="it-IT" dirty="0" err="1"/>
              <a:t>shapes</a:t>
            </a:r>
            <a:endParaRPr lang="it-IT" dirty="0"/>
          </a:p>
          <a:p>
            <a:pPr lvl="1"/>
            <a:r>
              <a:rPr lang="it-IT" dirty="0"/>
              <a:t>Ball </a:t>
            </a:r>
            <a:r>
              <a:rPr lang="it-IT" dirty="0" err="1"/>
              <a:t>Pivoting</a:t>
            </a:r>
            <a:endParaRPr lang="it-IT" dirty="0"/>
          </a:p>
          <a:p>
            <a:pPr lvl="1"/>
            <a:r>
              <a:rPr lang="it-IT" dirty="0"/>
              <a:t>Poisson </a:t>
            </a:r>
            <a:r>
              <a:rPr lang="it-IT" dirty="0" err="1"/>
              <a:t>Meshing</a:t>
            </a:r>
            <a:endParaRPr lang="it-IT" dirty="0"/>
          </a:p>
          <a:p>
            <a:pPr lvl="2"/>
            <a:r>
              <a:rPr lang="it-IT" dirty="0"/>
              <a:t>https://www.open3d.org/docs/latest/tutorial/Advanced/surface_reconstruction.html</a:t>
            </a:r>
          </a:p>
          <a:p>
            <a:r>
              <a:rPr lang="it-IT" dirty="0" err="1"/>
              <a:t>We</a:t>
            </a:r>
            <a:r>
              <a:rPr lang="it-IT" dirty="0"/>
              <a:t> can test </a:t>
            </a:r>
            <a:r>
              <a:rPr lang="it-IT" dirty="0" err="1"/>
              <a:t>them</a:t>
            </a:r>
            <a:r>
              <a:rPr lang="it-IT" dirty="0"/>
              <a:t>, </a:t>
            </a:r>
            <a:r>
              <a:rPr lang="it-IT" dirty="0" err="1"/>
              <a:t>varying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and </a:t>
            </a:r>
            <a:r>
              <a:rPr lang="it-IT" dirty="0" err="1"/>
              <a:t>evaluating</a:t>
            </a:r>
            <a:r>
              <a:rPr lang="it-IT" dirty="0"/>
              <a:t> the </a:t>
            </a:r>
            <a:r>
              <a:rPr lang="it-IT" dirty="0" err="1"/>
              <a:t>resulting</a:t>
            </a:r>
            <a:r>
              <a:rPr lang="it-IT" dirty="0"/>
              <a:t> mesh </a:t>
            </a:r>
            <a:r>
              <a:rPr lang="it-IT" dirty="0" err="1"/>
              <a:t>quality</a:t>
            </a:r>
            <a:endParaRPr lang="it-IT" dirty="0"/>
          </a:p>
          <a:p>
            <a:r>
              <a:rPr lang="it-IT" dirty="0"/>
              <a:t>Note: Poisson </a:t>
            </a:r>
            <a:r>
              <a:rPr lang="it-IT" dirty="0" err="1"/>
              <a:t>Meshing</a:t>
            </a:r>
            <a:r>
              <a:rPr lang="it-IT" dirty="0"/>
              <a:t> </a:t>
            </a:r>
            <a:r>
              <a:rPr lang="it-IT" dirty="0" err="1"/>
              <a:t>requires</a:t>
            </a:r>
            <a:r>
              <a:rPr lang="it-IT" dirty="0"/>
              <a:t> </a:t>
            </a:r>
            <a:r>
              <a:rPr lang="it-IT" dirty="0" err="1"/>
              <a:t>normal</a:t>
            </a:r>
            <a:r>
              <a:rPr lang="it-IT" dirty="0"/>
              <a:t> </a:t>
            </a:r>
            <a:r>
              <a:rPr lang="it-IT" dirty="0" err="1"/>
              <a:t>estimation</a:t>
            </a:r>
            <a:r>
              <a:rPr lang="it-IT" dirty="0"/>
              <a:t> </a:t>
            </a:r>
          </a:p>
          <a:p>
            <a:endParaRPr lang="it-IT" dirty="0"/>
          </a:p>
          <a:p>
            <a:r>
              <a:rPr lang="it-IT" dirty="0"/>
              <a:t>See meshing_open3d.py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ADA08A-3151-B7EC-6223-7866D855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DB18-5C2F-47A4-99D5-DB6C5A200410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E964BF-2BC3-B6F5-8C24-079EB309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A52DDC-64A1-DCD5-74D3-B90F98B3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969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15B259-F7D3-3363-265A-772711BE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Mesh </a:t>
            </a:r>
            <a:r>
              <a:rPr lang="it-IT" dirty="0" err="1"/>
              <a:t>properties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05A1C6-9E6D-4E66-7085-0F51118B8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 </a:t>
            </a:r>
            <a:r>
              <a:rPr lang="it-IT" dirty="0" err="1"/>
              <a:t>We</a:t>
            </a:r>
            <a:r>
              <a:rPr lang="it-IT" dirty="0"/>
              <a:t> can check</a:t>
            </a:r>
          </a:p>
          <a:p>
            <a:pPr lvl="1"/>
            <a:r>
              <a:rPr lang="it-IT" dirty="0" err="1"/>
              <a:t>print</a:t>
            </a:r>
            <a:r>
              <a:rPr lang="it-IT" dirty="0"/>
              <a:t>(</a:t>
            </a:r>
            <a:r>
              <a:rPr lang="it-IT" dirty="0" err="1"/>
              <a:t>rec_mesh.is_watertight</a:t>
            </a:r>
            <a:r>
              <a:rPr lang="it-IT" dirty="0"/>
              <a:t>())</a:t>
            </a:r>
          </a:p>
          <a:p>
            <a:pPr lvl="1"/>
            <a:r>
              <a:rPr lang="it-IT" dirty="0" err="1"/>
              <a:t>print</a:t>
            </a:r>
            <a:r>
              <a:rPr lang="it-IT" dirty="0"/>
              <a:t>(</a:t>
            </a:r>
            <a:r>
              <a:rPr lang="it-IT" dirty="0" err="1"/>
              <a:t>rec_mesh.is_self_intersecting</a:t>
            </a:r>
            <a:r>
              <a:rPr lang="it-IT" dirty="0"/>
              <a:t>())</a:t>
            </a:r>
          </a:p>
          <a:p>
            <a:pPr lvl="1"/>
            <a:r>
              <a:rPr lang="it-IT" dirty="0" err="1"/>
              <a:t>print</a:t>
            </a:r>
            <a:r>
              <a:rPr lang="it-IT" dirty="0"/>
              <a:t>(</a:t>
            </a:r>
            <a:r>
              <a:rPr lang="it-IT" dirty="0" err="1"/>
              <a:t>rec_mesh.is_edge_manifold</a:t>
            </a:r>
            <a:r>
              <a:rPr lang="it-IT" dirty="0"/>
              <a:t>())</a:t>
            </a:r>
          </a:p>
          <a:p>
            <a:pPr lvl="1"/>
            <a:r>
              <a:rPr lang="it-IT" dirty="0"/>
              <a:t>…</a:t>
            </a:r>
          </a:p>
          <a:p>
            <a:r>
              <a:rPr lang="it-IT" dirty="0" err="1"/>
              <a:t>Functions</a:t>
            </a:r>
            <a:r>
              <a:rPr lang="it-IT" dirty="0"/>
              <a:t> to fix </a:t>
            </a:r>
            <a:r>
              <a:rPr lang="it-IT" dirty="0" err="1"/>
              <a:t>issues</a:t>
            </a:r>
            <a:r>
              <a:rPr lang="it-IT" dirty="0"/>
              <a:t> </a:t>
            </a:r>
            <a:r>
              <a:rPr lang="it-IT" dirty="0" err="1"/>
              <a:t>available</a:t>
            </a:r>
            <a:endParaRPr lang="it-IT" dirty="0"/>
          </a:p>
          <a:p>
            <a:pPr lvl="1"/>
            <a:r>
              <a:rPr lang="it-IT" dirty="0"/>
              <a:t>https://www.open3d.org/docs/latest/python_api/open3d.geometry.TriangleMesh.html</a:t>
            </a:r>
          </a:p>
          <a:p>
            <a:r>
              <a:rPr lang="it-IT" dirty="0" err="1"/>
              <a:t>Functions</a:t>
            </a:r>
            <a:r>
              <a:rPr lang="it-IT" dirty="0"/>
              <a:t> to </a:t>
            </a:r>
            <a:r>
              <a:rPr lang="it-IT" dirty="0" err="1"/>
              <a:t>perform</a:t>
            </a:r>
            <a:r>
              <a:rPr lang="it-IT" dirty="0"/>
              <a:t> mesh </a:t>
            </a:r>
            <a:r>
              <a:rPr lang="it-IT" dirty="0" err="1"/>
              <a:t>decimation</a:t>
            </a:r>
            <a:r>
              <a:rPr lang="it-IT" dirty="0"/>
              <a:t> or </a:t>
            </a:r>
            <a:r>
              <a:rPr lang="it-IT" dirty="0" err="1"/>
              <a:t>subdivision</a:t>
            </a:r>
            <a:r>
              <a:rPr lang="it-IT" dirty="0"/>
              <a:t> are </a:t>
            </a:r>
            <a:r>
              <a:rPr lang="it-IT" dirty="0" err="1"/>
              <a:t>available</a:t>
            </a:r>
            <a:endParaRPr lang="it-IT" dirty="0"/>
          </a:p>
          <a:p>
            <a:pPr lvl="1"/>
            <a:r>
              <a:rPr lang="it-IT" dirty="0"/>
              <a:t>You can test with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 </a:t>
            </a:r>
            <a:r>
              <a:rPr lang="it-IT" dirty="0" err="1"/>
              <a:t>scans</a:t>
            </a:r>
            <a:r>
              <a:rPr lang="it-IT" dirty="0"/>
              <a:t>/models</a:t>
            </a:r>
          </a:p>
          <a:p>
            <a:pPr lvl="1"/>
            <a:r>
              <a:rPr lang="it-IT" dirty="0"/>
              <a:t>You can </a:t>
            </a:r>
            <a:r>
              <a:rPr lang="it-IT" dirty="0" err="1"/>
              <a:t>also</a:t>
            </a:r>
            <a:r>
              <a:rPr lang="it-IT" dirty="0"/>
              <a:t> use </a:t>
            </a:r>
            <a:r>
              <a:rPr lang="it-IT" dirty="0" err="1"/>
              <a:t>directly</a:t>
            </a:r>
            <a:r>
              <a:rPr lang="it-IT" dirty="0"/>
              <a:t> </a:t>
            </a:r>
            <a:r>
              <a:rPr lang="it-IT" dirty="0" err="1"/>
              <a:t>meshlab</a:t>
            </a:r>
            <a:r>
              <a:rPr lang="it-IT" dirty="0"/>
              <a:t> (by the way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meshlab</a:t>
            </a:r>
            <a:r>
              <a:rPr lang="it-IT" dirty="0"/>
              <a:t> libraries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python</a:t>
            </a:r>
            <a:r>
              <a:rPr lang="it-IT" dirty="0"/>
              <a:t> </a:t>
            </a:r>
            <a:r>
              <a:rPr lang="it-IT" dirty="0" err="1"/>
              <a:t>wrappers</a:t>
            </a:r>
            <a:r>
              <a:rPr lang="it-IT" dirty="0"/>
              <a:t>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B25C9E-AECB-086E-7526-BF0CB1FA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5D0F-6662-4BF0-BC85-0D5D01C97B99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D173F9-CD1F-DBD4-A0E0-9AACC365B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D7A0E7-7DF1-8346-101B-C43A8DAC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7479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66E6E1-A842-AC7E-8C57-747155EB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Open 3D </a:t>
            </a:r>
            <a:r>
              <a:rPr lang="it-IT" dirty="0" err="1"/>
              <a:t>functions</a:t>
            </a:r>
            <a:r>
              <a:rPr lang="it-IT" dirty="0"/>
              <a:t> for </a:t>
            </a:r>
            <a:r>
              <a:rPr lang="it-IT" dirty="0" err="1"/>
              <a:t>smoothing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EEEFAD-849E-AAF0-299D-6986D956D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Open3D’s current </a:t>
            </a:r>
            <a:r>
              <a:rPr lang="en-US" dirty="0" err="1"/>
              <a:t>TriangleMesh</a:t>
            </a:r>
            <a:r>
              <a:rPr lang="en-US" dirty="0"/>
              <a:t> API includes </a:t>
            </a:r>
          </a:p>
          <a:p>
            <a:pPr lvl="1"/>
            <a:r>
              <a:rPr lang="en-US" dirty="0" err="1"/>
              <a:t>filter_smooth_simple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filter_smooth_laplacian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filter_smooth_Taubin</a:t>
            </a:r>
            <a:endParaRPr lang="it-IT" dirty="0"/>
          </a:p>
          <a:p>
            <a:pPr lvl="2"/>
            <a:r>
              <a:rPr lang="it-IT" dirty="0"/>
              <a:t>See smooth_open3d.py</a:t>
            </a:r>
            <a:endParaRPr lang="en-US" dirty="0"/>
          </a:p>
          <a:p>
            <a:r>
              <a:rPr lang="en-US" dirty="0"/>
              <a:t>Not using the cotangent weighting (it uses umbrella operator)</a:t>
            </a:r>
          </a:p>
          <a:p>
            <a:pPr lvl="1"/>
            <a:r>
              <a:rPr lang="en-US" dirty="0" err="1"/>
              <a:t>Smooth_simple</a:t>
            </a:r>
            <a:r>
              <a:rPr lang="en-US" dirty="0"/>
              <a:t> just average neighbors</a:t>
            </a:r>
          </a:p>
          <a:p>
            <a:pPr lvl="2"/>
            <a:r>
              <a:rPr lang="en-US" dirty="0"/>
              <a:t>Which method produces the strongest visible smoothing?</a:t>
            </a:r>
          </a:p>
          <a:p>
            <a:pPr lvl="2"/>
            <a:r>
              <a:rPr lang="en-US" dirty="0"/>
              <a:t>Which method best preserves the overall shape?</a:t>
            </a:r>
          </a:p>
          <a:p>
            <a:pPr lvl="2"/>
            <a:r>
              <a:rPr lang="en-US" dirty="0"/>
              <a:t>What happens when you increase `</a:t>
            </a:r>
            <a:r>
              <a:rPr lang="en-US" dirty="0" err="1"/>
              <a:t>number_of_iterations</a:t>
            </a:r>
            <a:r>
              <a:rPr lang="en-US" dirty="0"/>
              <a:t>`?</a:t>
            </a:r>
          </a:p>
          <a:p>
            <a:pPr lvl="2"/>
            <a:r>
              <a:rPr lang="en-US" dirty="0"/>
              <a:t>What happens when you increase `</a:t>
            </a:r>
            <a:r>
              <a:rPr lang="en-US" dirty="0" err="1"/>
              <a:t>lambda_filter</a:t>
            </a:r>
            <a:r>
              <a:rPr lang="en-US" dirty="0"/>
              <a:t>` in Laplacian smoothing?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71FD03-4570-2E68-2BED-B2B38ABD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5D0F-6662-4BF0-BC85-0D5D01C97B99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5136F4-6667-4CA4-E533-CB84A3CA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3681BB-F52D-0F8E-EDB1-212F2980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13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5A9513-BEC1-196D-DAB7-0392A566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Other </a:t>
            </a:r>
            <a:r>
              <a:rPr lang="it-IT" dirty="0" err="1"/>
              <a:t>python</a:t>
            </a:r>
            <a:r>
              <a:rPr lang="it-IT" dirty="0"/>
              <a:t> libraries for mesh processing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3F0E8E-FF61-0C1E-632A-0AE31FC38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open3D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the </a:t>
            </a:r>
            <a:r>
              <a:rPr lang="it-IT" dirty="0" err="1"/>
              <a:t>only</a:t>
            </a:r>
            <a:r>
              <a:rPr lang="it-IT" dirty="0"/>
              <a:t> tool for 3D model processing in </a:t>
            </a:r>
            <a:r>
              <a:rPr lang="it-IT" dirty="0" err="1"/>
              <a:t>python</a:t>
            </a:r>
            <a:endParaRPr lang="it-IT" dirty="0"/>
          </a:p>
          <a:p>
            <a:pPr lvl="1"/>
            <a:r>
              <a:rPr lang="it-IT" dirty="0" err="1"/>
              <a:t>Main</a:t>
            </a:r>
            <a:r>
              <a:rPr lang="it-IT" dirty="0"/>
              <a:t> focus on </a:t>
            </a:r>
            <a:r>
              <a:rPr lang="it-IT" dirty="0" err="1"/>
              <a:t>reconstruction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Limited tools for </a:t>
            </a:r>
            <a:r>
              <a:rPr lang="it-IT" dirty="0" err="1"/>
              <a:t>shape</a:t>
            </a:r>
            <a:r>
              <a:rPr lang="it-IT" dirty="0"/>
              <a:t>/mesh processing</a:t>
            </a:r>
          </a:p>
          <a:p>
            <a:pPr lvl="1"/>
            <a:r>
              <a:rPr lang="it-IT" dirty="0"/>
              <a:t>Limited </a:t>
            </a:r>
            <a:r>
              <a:rPr lang="it-IT" dirty="0" err="1"/>
              <a:t>visualization</a:t>
            </a:r>
            <a:r>
              <a:rPr lang="it-IT" dirty="0"/>
              <a:t> tools</a:t>
            </a:r>
          </a:p>
          <a:p>
            <a:r>
              <a:rPr lang="it-IT" dirty="0"/>
              <a:t>Many </a:t>
            </a:r>
            <a:r>
              <a:rPr lang="it-IT" dirty="0" err="1"/>
              <a:t>alternatives</a:t>
            </a:r>
            <a:r>
              <a:rPr lang="it-IT" dirty="0"/>
              <a:t>, some </a:t>
            </a:r>
            <a:r>
              <a:rPr lang="it-IT" dirty="0" err="1"/>
              <a:t>might</a:t>
            </a:r>
            <a:r>
              <a:rPr lang="it-IT" dirty="0"/>
              <a:t> be </a:t>
            </a:r>
            <a:r>
              <a:rPr lang="it-IT" dirty="0" err="1"/>
              <a:t>better</a:t>
            </a:r>
            <a:r>
              <a:rPr lang="it-IT" dirty="0"/>
              <a:t> for </a:t>
            </a:r>
            <a:r>
              <a:rPr lang="it-IT" dirty="0" err="1"/>
              <a:t>applications</a:t>
            </a:r>
            <a:endParaRPr lang="it-IT" dirty="0"/>
          </a:p>
          <a:p>
            <a:pPr lvl="1"/>
            <a:r>
              <a:rPr lang="it-IT" b="1" dirty="0"/>
              <a:t>VTK/</a:t>
            </a:r>
            <a:r>
              <a:rPr lang="it-IT" b="1" dirty="0" err="1"/>
              <a:t>Pyvista</a:t>
            </a:r>
            <a:endParaRPr lang="it-IT" b="1" dirty="0"/>
          </a:p>
          <a:p>
            <a:pPr lvl="1"/>
            <a:r>
              <a:rPr lang="it-IT" dirty="0" err="1"/>
              <a:t>Trimesh</a:t>
            </a:r>
            <a:endParaRPr lang="it-IT" dirty="0"/>
          </a:p>
          <a:p>
            <a:pPr lvl="1"/>
            <a:r>
              <a:rPr lang="it-IT" dirty="0" err="1"/>
              <a:t>Pymesh</a:t>
            </a:r>
            <a:endParaRPr lang="it-IT" dirty="0"/>
          </a:p>
          <a:p>
            <a:pPr lvl="1"/>
            <a:r>
              <a:rPr lang="it-IT" b="1" dirty="0" err="1"/>
              <a:t>Libigl</a:t>
            </a:r>
            <a:endParaRPr lang="it-IT" b="1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DF582D-AD98-3F18-2CB6-DF638772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646C9-C05E-4362-92F6-88FAF9AB9863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8D88A6-0985-03BB-D9B5-9EACC227E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B4FAA1-B6FC-18EE-1A5F-91196A0D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780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7DBAD9-D1E5-CBF2-A815-5AE27015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PyVista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BBAC1C-2D91-7BA9-6FF3-6FDBE8401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Po</a:t>
            </a:r>
          </a:p>
          <a:p>
            <a:r>
              <a:rPr lang="it-IT" dirty="0"/>
              <a:t>curvature_pyvista.py</a:t>
            </a:r>
          </a:p>
          <a:p>
            <a:pPr lvl="1"/>
            <a:r>
              <a:rPr lang="it-IT" dirty="0"/>
              <a:t>Use </a:t>
            </a:r>
            <a:r>
              <a:rPr lang="it-IT" b="1" dirty="0" err="1"/>
              <a:t>pyvista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to estimate </a:t>
            </a:r>
            <a:r>
              <a:rPr lang="it-IT" dirty="0" err="1"/>
              <a:t>curvatures</a:t>
            </a:r>
            <a:endParaRPr lang="it-IT" dirty="0"/>
          </a:p>
          <a:p>
            <a:pPr lvl="1"/>
            <a:r>
              <a:rPr lang="it-IT" dirty="0" err="1"/>
              <a:t>Try</a:t>
            </a:r>
            <a:r>
              <a:rPr lang="it-IT" dirty="0"/>
              <a:t> to </a:t>
            </a:r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cuvature</a:t>
            </a:r>
            <a:r>
              <a:rPr lang="it-IT" dirty="0"/>
              <a:t> </a:t>
            </a:r>
            <a:r>
              <a:rPr lang="it-IT" dirty="0" err="1"/>
              <a:t>type</a:t>
            </a:r>
            <a:endParaRPr lang="it-IT" dirty="0"/>
          </a:p>
          <a:p>
            <a:pPr lvl="1"/>
            <a:endParaRPr lang="it-IT" dirty="0"/>
          </a:p>
          <a:p>
            <a:pPr lvl="1"/>
            <a:r>
              <a:rPr lang="it-IT" dirty="0" err="1"/>
              <a:t>Exercise</a:t>
            </a:r>
            <a:r>
              <a:rPr lang="it-IT" dirty="0"/>
              <a:t>: </a:t>
            </a:r>
            <a:r>
              <a:rPr lang="it-IT" dirty="0" err="1"/>
              <a:t>try</a:t>
            </a:r>
            <a:r>
              <a:rPr lang="it-IT" dirty="0"/>
              <a:t> to reduce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triangles</a:t>
            </a:r>
            <a:r>
              <a:rPr lang="it-IT" dirty="0"/>
              <a:t> or to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subdivision</a:t>
            </a:r>
            <a:r>
              <a:rPr lang="it-IT" dirty="0"/>
              <a:t> and </a:t>
            </a:r>
            <a:r>
              <a:rPr lang="it-IT" dirty="0" err="1"/>
              <a:t>recompute</a:t>
            </a:r>
            <a:r>
              <a:rPr lang="it-IT" dirty="0"/>
              <a:t> the curvature </a:t>
            </a:r>
            <a:r>
              <a:rPr lang="it-IT" dirty="0" err="1"/>
              <a:t>maps</a:t>
            </a:r>
            <a:r>
              <a:rPr lang="it-IT" dirty="0"/>
              <a:t>. </a:t>
            </a:r>
          </a:p>
          <a:p>
            <a:pPr lvl="2"/>
            <a:r>
              <a:rPr lang="it-IT" dirty="0"/>
              <a:t>Look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pyvista</a:t>
            </a:r>
            <a:r>
              <a:rPr lang="it-IT" dirty="0"/>
              <a:t> </a:t>
            </a:r>
            <a:r>
              <a:rPr lang="it-IT" dirty="0" err="1"/>
              <a:t>documentation</a:t>
            </a:r>
            <a:endParaRPr lang="it-IT" dirty="0"/>
          </a:p>
          <a:p>
            <a:pPr lvl="3"/>
            <a:r>
              <a:rPr lang="it-IT" dirty="0" err="1"/>
              <a:t>Subdivide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  <a:p>
            <a:pPr lvl="3"/>
            <a:r>
              <a:rPr lang="it-IT" dirty="0"/>
              <a:t>Decimate </a:t>
            </a:r>
            <a:r>
              <a:rPr lang="it-IT" dirty="0" err="1"/>
              <a:t>function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D2AE50-298F-0E76-43AF-76C83C53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762A-85B2-4842-843B-5E680C466175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F4AE2D-A96D-064E-8CCA-E32C1625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36EA0F-FE54-40C6-4ADF-E9D87E011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056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C518-301A-A8D7-7DEC-30699C0A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A743CE-C304-5D31-24B4-E08B09F5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PyVista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909A6E-49CE-68DC-1C43-4CB1BC8E3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776" y="1691605"/>
            <a:ext cx="12274555" cy="4989600"/>
          </a:xfrm>
        </p:spPr>
        <p:txBody>
          <a:bodyPr/>
          <a:lstStyle/>
          <a:p>
            <a:r>
              <a:rPr lang="it-IT" dirty="0"/>
              <a:t>Po</a:t>
            </a:r>
            <a:r>
              <a:rPr lang="en-US" dirty="0" err="1"/>
              <a:t>werful</a:t>
            </a:r>
            <a:r>
              <a:rPr lang="en-US" dirty="0"/>
              <a:t> high-level Python library for </a:t>
            </a:r>
            <a:r>
              <a:rPr lang="en-US" b="1" dirty="0"/>
              <a:t>3D visualization and mesh processing</a:t>
            </a:r>
            <a:r>
              <a:rPr lang="en-US" dirty="0"/>
              <a:t>, built on top of </a:t>
            </a:r>
            <a:r>
              <a:rPr lang="en-US" b="1" dirty="0"/>
              <a:t>VTK (Visualization Toolkit), probably the most powerful free tool for 3D visualization</a:t>
            </a:r>
          </a:p>
          <a:p>
            <a:r>
              <a:rPr lang="en-US" dirty="0"/>
              <a:t>Used for CFD, FEM simulation results, medical imaging (CT/MRI volumes), but also point clouds.</a:t>
            </a:r>
            <a:r>
              <a:rPr lang="it-IT" dirty="0" err="1"/>
              <a:t>Visualization</a:t>
            </a:r>
            <a:r>
              <a:rPr lang="it-IT" dirty="0"/>
              <a:t> first, </a:t>
            </a:r>
            <a:r>
              <a:rPr lang="it-IT" dirty="0" err="1"/>
              <a:t>not</a:t>
            </a:r>
            <a:r>
              <a:rPr lang="it-IT" dirty="0"/>
              <a:t> good for </a:t>
            </a:r>
            <a:r>
              <a:rPr lang="it-IT" dirty="0" err="1"/>
              <a:t>reconstruction</a:t>
            </a:r>
            <a:r>
              <a:rPr lang="it-IT" dirty="0"/>
              <a:t>, etc.</a:t>
            </a:r>
          </a:p>
          <a:p>
            <a:r>
              <a:rPr lang="it-IT" dirty="0"/>
              <a:t>But </a:t>
            </a:r>
            <a:r>
              <a:rPr lang="it-IT" dirty="0" err="1"/>
              <a:t>it</a:t>
            </a:r>
            <a:r>
              <a:rPr lang="it-IT" dirty="0"/>
              <a:t> supports curvature </a:t>
            </a:r>
            <a:r>
              <a:rPr lang="it-IT" dirty="0" err="1"/>
              <a:t>estimation</a:t>
            </a:r>
            <a:endParaRPr lang="it-IT" dirty="0"/>
          </a:p>
          <a:p>
            <a:pPr lvl="1"/>
            <a:r>
              <a:rPr lang="it-IT" dirty="0"/>
              <a:t>curvature_pyvista.py</a:t>
            </a:r>
          </a:p>
          <a:p>
            <a:pPr lvl="2"/>
            <a:r>
              <a:rPr lang="it-IT" dirty="0"/>
              <a:t>Use </a:t>
            </a:r>
            <a:r>
              <a:rPr lang="it-IT" b="1" dirty="0" err="1"/>
              <a:t>pyvista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to estimate </a:t>
            </a:r>
            <a:r>
              <a:rPr lang="it-IT" dirty="0" err="1"/>
              <a:t>curvatures</a:t>
            </a:r>
            <a:endParaRPr lang="it-IT" dirty="0"/>
          </a:p>
          <a:p>
            <a:pPr lvl="2"/>
            <a:r>
              <a:rPr lang="it-IT" dirty="0"/>
              <a:t>Try to </a:t>
            </a:r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cuvature</a:t>
            </a:r>
            <a:r>
              <a:rPr lang="it-IT" dirty="0"/>
              <a:t> </a:t>
            </a:r>
            <a:r>
              <a:rPr lang="it-IT" dirty="0" err="1"/>
              <a:t>type</a:t>
            </a:r>
            <a:endParaRPr lang="it-IT" dirty="0"/>
          </a:p>
          <a:p>
            <a:pPr lvl="1"/>
            <a:r>
              <a:rPr lang="it-IT" dirty="0" err="1"/>
              <a:t>Exercise</a:t>
            </a:r>
            <a:r>
              <a:rPr lang="it-IT" dirty="0"/>
              <a:t>: </a:t>
            </a:r>
            <a:r>
              <a:rPr lang="it-IT" dirty="0" err="1"/>
              <a:t>try</a:t>
            </a:r>
            <a:r>
              <a:rPr lang="it-IT" dirty="0"/>
              <a:t> to </a:t>
            </a:r>
            <a:r>
              <a:rPr lang="it-IT" dirty="0" err="1"/>
              <a:t>simplify</a:t>
            </a:r>
            <a:r>
              <a:rPr lang="it-IT" dirty="0"/>
              <a:t> or </a:t>
            </a:r>
            <a:r>
              <a:rPr lang="it-IT" dirty="0" err="1"/>
              <a:t>subdivide</a:t>
            </a:r>
            <a:r>
              <a:rPr lang="it-IT" dirty="0"/>
              <a:t> and </a:t>
            </a:r>
            <a:r>
              <a:rPr lang="it-IT" dirty="0" err="1"/>
              <a:t>recompute</a:t>
            </a:r>
            <a:r>
              <a:rPr lang="it-IT" dirty="0"/>
              <a:t> the curvature </a:t>
            </a:r>
            <a:r>
              <a:rPr lang="it-IT" dirty="0" err="1"/>
              <a:t>maps</a:t>
            </a:r>
            <a:r>
              <a:rPr lang="it-IT" dirty="0"/>
              <a:t>. </a:t>
            </a:r>
          </a:p>
          <a:p>
            <a:pPr lvl="2"/>
            <a:r>
              <a:rPr lang="it-IT" dirty="0"/>
              <a:t>Look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pyvista</a:t>
            </a:r>
            <a:r>
              <a:rPr lang="it-IT" dirty="0"/>
              <a:t> </a:t>
            </a:r>
            <a:r>
              <a:rPr lang="it-IT" dirty="0" err="1"/>
              <a:t>documentation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D71CC85-FB03-3E3E-342A-3343A0778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762A-85B2-4842-843B-5E680C466175}" type="datetime1">
              <a:rPr lang="it-IT" smtClean="0"/>
              <a:t>28/04/2026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8C8974-F75E-8AE2-3A85-7AD4AF2D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270902-5790-1BC4-1DAD-A83AFE50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5546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61DD4C-5C0D-75EF-41ED-44439048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Note: </a:t>
            </a:r>
            <a:r>
              <a:rPr lang="it-IT" dirty="0" err="1"/>
              <a:t>pyvista</a:t>
            </a:r>
            <a:r>
              <a:rPr lang="it-IT" dirty="0"/>
              <a:t> and meshes</a:t>
            </a:r>
          </a:p>
        </p:txBody>
      </p:sp>
      <p:sp>
        <p:nvSpPr>
          <p:cNvPr id="18" name="Segnaposto contenuto 17">
            <a:extLst>
              <a:ext uri="{FF2B5EF4-FFF2-40B4-BE49-F238E27FC236}">
                <a16:creationId xmlns:a16="http://schemas.microsoft.com/office/drawing/2014/main" id="{D168AB34-BBB0-EB8A-3BC4-B4AAAAB2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sz="2800" dirty="0"/>
              <a:t>Loading the mesh </a:t>
            </a:r>
            <a:r>
              <a:rPr lang="it-IT" altLang="it-IT" sz="2800" dirty="0" err="1"/>
              <a:t>using</a:t>
            </a:r>
            <a:r>
              <a:rPr lang="it-IT" altLang="it-IT" sz="2800" dirty="0"/>
              <a:t> </a:t>
            </a:r>
            <a:r>
              <a:rPr lang="it-IT" altLang="it-IT" sz="2800" dirty="0" err="1"/>
              <a:t>pyvista</a:t>
            </a:r>
            <a:r>
              <a:rPr lang="it-IT" altLang="it-IT" sz="2800" dirty="0"/>
              <a:t> </a:t>
            </a:r>
            <a:r>
              <a:rPr lang="it-IT" altLang="it-IT" sz="2800" dirty="0" err="1"/>
              <a:t>we</a:t>
            </a:r>
            <a:r>
              <a:rPr lang="it-IT" altLang="it-IT" sz="2800" dirty="0"/>
              <a:t> can </a:t>
            </a:r>
            <a:r>
              <a:rPr lang="it-IT" altLang="it-IT" sz="2800" dirty="0" err="1"/>
              <a:t>easily</a:t>
            </a:r>
            <a:r>
              <a:rPr lang="it-IT" altLang="it-IT" sz="2800" dirty="0"/>
              <a:t> </a:t>
            </a:r>
            <a:r>
              <a:rPr lang="it-IT" altLang="it-IT" sz="2800" dirty="0" err="1"/>
              <a:t>print</a:t>
            </a:r>
            <a:r>
              <a:rPr lang="it-IT" altLang="it-IT" sz="2800" dirty="0"/>
              <a:t> the </a:t>
            </a:r>
            <a:r>
              <a:rPr lang="it-IT" altLang="it-IT" sz="2800" dirty="0" err="1"/>
              <a:t>main</a:t>
            </a:r>
            <a:r>
              <a:rPr lang="it-IT" altLang="it-IT" sz="2800" dirty="0"/>
              <a:t> mesh </a:t>
            </a:r>
            <a:r>
              <a:rPr lang="it-IT" altLang="it-IT" sz="2800" dirty="0" err="1"/>
              <a:t>properties</a:t>
            </a:r>
            <a:endParaRPr lang="it-IT" altLang="it-IT" sz="2800" dirty="0"/>
          </a:p>
          <a:p>
            <a:r>
              <a:rPr lang="it-IT" sz="2800" dirty="0" err="1"/>
              <a:t>PolyData</a:t>
            </a:r>
            <a:r>
              <a:rPr lang="it-IT" sz="2800" dirty="0"/>
              <a:t> </a:t>
            </a:r>
            <a:r>
              <a:rPr lang="it-IT" sz="2800" dirty="0" err="1"/>
              <a:t>structure</a:t>
            </a:r>
            <a:endParaRPr lang="it-IT" altLang="it-IT" sz="2800" dirty="0"/>
          </a:p>
          <a:p>
            <a:r>
              <a:rPr lang="it-IT" altLang="it-IT" sz="2800" dirty="0"/>
              <a:t>Check</a:t>
            </a:r>
          </a:p>
          <a:p>
            <a:pPr lvl="1"/>
            <a:r>
              <a:rPr lang="it-IT" altLang="it-IT" sz="2400" dirty="0"/>
              <a:t>https://docs.pyvista.org/version/stable/api/</a:t>
            </a:r>
          </a:p>
          <a:p>
            <a:r>
              <a:rPr lang="it-IT" altLang="it-IT" sz="2800" dirty="0" err="1"/>
              <a:t>We</a:t>
            </a:r>
            <a:r>
              <a:rPr lang="it-IT" altLang="it-IT" sz="2800" dirty="0"/>
              <a:t> can </a:t>
            </a:r>
            <a:r>
              <a:rPr lang="it-IT" altLang="it-IT" sz="2800" dirty="0" err="1"/>
              <a:t>print</a:t>
            </a:r>
            <a:r>
              <a:rPr lang="it-IT" altLang="it-IT" sz="2800" dirty="0"/>
              <a:t> </a:t>
            </a:r>
            <a:r>
              <a:rPr lang="it-IT" altLang="it-IT" sz="2800" dirty="0" err="1"/>
              <a:t>basic</a:t>
            </a:r>
            <a:r>
              <a:rPr lang="it-IT" altLang="it-IT" sz="2800" dirty="0"/>
              <a:t> </a:t>
            </a:r>
            <a:r>
              <a:rPr lang="it-IT" altLang="it-IT" sz="2800" dirty="0" err="1"/>
              <a:t>properties</a:t>
            </a:r>
            <a:r>
              <a:rPr lang="it-IT" altLang="it-IT" sz="2800" dirty="0"/>
              <a:t> </a:t>
            </a:r>
          </a:p>
          <a:p>
            <a:pPr lvl="1"/>
            <a:r>
              <a:rPr lang="it-IT" altLang="it-IT" sz="2400" dirty="0" err="1"/>
              <a:t>print</a:t>
            </a:r>
            <a:r>
              <a:rPr lang="it-IT" altLang="it-IT" sz="2400" dirty="0"/>
              <a:t>(mesh)</a:t>
            </a:r>
          </a:p>
          <a:p>
            <a:r>
              <a:rPr lang="it-IT" altLang="it-IT" sz="2800" dirty="0"/>
              <a:t>Or check </a:t>
            </a:r>
            <a:r>
              <a:rPr lang="it-IT" altLang="it-IT" sz="2800" dirty="0" err="1"/>
              <a:t>specific</a:t>
            </a:r>
            <a:r>
              <a:rPr lang="it-IT" altLang="it-IT" sz="2800" dirty="0"/>
              <a:t> </a:t>
            </a:r>
            <a:r>
              <a:rPr lang="it-IT" altLang="it-IT" sz="2800" dirty="0" err="1"/>
              <a:t>properties</a:t>
            </a:r>
            <a:r>
              <a:rPr lang="it-IT" altLang="it-IT" sz="2800" dirty="0"/>
              <a:t>, e.g., </a:t>
            </a:r>
          </a:p>
          <a:p>
            <a:pPr lvl="1"/>
            <a:r>
              <a:rPr lang="it-IT" altLang="it-IT" sz="2400" dirty="0" err="1"/>
              <a:t>mesh.is_manifold</a:t>
            </a:r>
            <a:endParaRPr lang="it-IT" altLang="it-IT" sz="2400" dirty="0"/>
          </a:p>
          <a:p>
            <a:pPr lvl="1"/>
            <a:r>
              <a:rPr lang="it-IT" altLang="it-IT" sz="2400" dirty="0" err="1"/>
              <a:t>mesh.n_open_edges</a:t>
            </a:r>
            <a:r>
              <a:rPr lang="it-IT" altLang="it-IT" sz="2400" dirty="0"/>
              <a:t> </a:t>
            </a:r>
          </a:p>
          <a:p>
            <a:r>
              <a:rPr lang="it-IT" altLang="it-IT" sz="2800" dirty="0" err="1"/>
              <a:t>We</a:t>
            </a:r>
            <a:r>
              <a:rPr lang="it-IT" altLang="it-IT" sz="2800" dirty="0"/>
              <a:t> can estimate mesh </a:t>
            </a:r>
            <a:r>
              <a:rPr lang="it-IT" altLang="it-IT" sz="2800" dirty="0" err="1"/>
              <a:t>quality</a:t>
            </a:r>
            <a:endParaRPr lang="it-IT" altLang="it-IT" sz="2800" dirty="0"/>
          </a:p>
          <a:p>
            <a:pPr marL="540000" lvl="1" indent="0">
              <a:buNone/>
            </a:pPr>
            <a:r>
              <a:rPr lang="it-IT" altLang="it-IT" sz="2400" dirty="0"/>
              <a:t>	</a:t>
            </a:r>
            <a:r>
              <a:rPr lang="it-IT" altLang="it-IT" sz="2400" dirty="0" err="1"/>
              <a:t>compute_cell_quality</a:t>
            </a:r>
            <a:endParaRPr lang="it-IT" altLang="it-IT" sz="2400" dirty="0"/>
          </a:p>
          <a:p>
            <a:endParaRPr lang="it-IT" sz="2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F35F3B-FCAE-E078-A468-B25491B4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4D54-4CCA-4641-B5CB-BD0D742C2689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EE2891-C245-1BA3-3E10-FF29EA82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123E82-1585-5926-45C4-819548D0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30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E0430A-B9CA-2A08-C752-1A32DBAC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Subdivision</a:t>
            </a:r>
            <a:r>
              <a:rPr lang="it-IT" dirty="0"/>
              <a:t>/</a:t>
            </a:r>
            <a:r>
              <a:rPr lang="it-IT" dirty="0" err="1"/>
              <a:t>decimation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CAF8B6-1A29-DE59-5322-930C24CE5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 err="1"/>
              <a:t>pyvista.PolyDataFilters.subdivide</a:t>
            </a:r>
            <a:endParaRPr lang="it-IT" b="1" dirty="0"/>
          </a:p>
          <a:p>
            <a:r>
              <a:rPr lang="it-IT" dirty="0"/>
              <a:t>Options </a:t>
            </a:r>
            <a:r>
              <a:rPr lang="it-IT" dirty="0" err="1"/>
              <a:t>butterfly</a:t>
            </a:r>
            <a:r>
              <a:rPr lang="it-IT" dirty="0"/>
              <a:t>, loop (with </a:t>
            </a:r>
            <a:r>
              <a:rPr lang="it-IT" dirty="0" err="1"/>
              <a:t>smoothing</a:t>
            </a:r>
            <a:r>
              <a:rPr lang="it-IT" dirty="0"/>
              <a:t>), linear (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smoothing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b="1" dirty="0" err="1"/>
              <a:t>pyvista.PolyDataFilters.decimate</a:t>
            </a:r>
            <a:endParaRPr lang="it-IT" b="1" dirty="0"/>
          </a:p>
          <a:p>
            <a:pPr lvl="1"/>
            <a:r>
              <a:rPr lang="it-IT" dirty="0" err="1"/>
              <a:t>Quadric</a:t>
            </a:r>
            <a:r>
              <a:rPr lang="it-IT" dirty="0"/>
              <a:t> mesh </a:t>
            </a:r>
            <a:r>
              <a:rPr lang="it-IT" dirty="0" err="1"/>
              <a:t>decimation</a:t>
            </a:r>
            <a:endParaRPr lang="it-IT" dirty="0"/>
          </a:p>
          <a:p>
            <a:pPr lvl="1"/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another</a:t>
            </a:r>
            <a:r>
              <a:rPr lang="it-IT" dirty="0"/>
              <a:t> filter</a:t>
            </a:r>
          </a:p>
          <a:p>
            <a:pPr lvl="1"/>
            <a:r>
              <a:rPr lang="it-IT" b="1" dirty="0" err="1"/>
              <a:t>pyvista.PolyDataFilters.decimate_pro</a:t>
            </a:r>
            <a:endParaRPr lang="it-IT" b="1" dirty="0"/>
          </a:p>
          <a:p>
            <a:pPr lvl="1"/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07370D-756B-1C32-8457-070215FD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2A83D-8547-4CEA-BF18-D8F76026098E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48E1F6-3DC6-F3C1-0EBC-6ED3E880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94EB6B-E579-69A2-5BA4-BB77F2F1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915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EF9DB5-4F92-E7A1-1D4C-A7EB5BD8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FD26F-B2C0-6C06-2686-E324EE4CD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Pyvista</a:t>
            </a:r>
            <a:r>
              <a:rPr lang="it-IT" dirty="0"/>
              <a:t> demo: smooth_pyvista.py</a:t>
            </a:r>
          </a:p>
          <a:p>
            <a:r>
              <a:rPr lang="it-IT" dirty="0"/>
              <a:t>Use </a:t>
            </a:r>
            <a:r>
              <a:rPr lang="it-IT" dirty="0" err="1"/>
              <a:t>Laplacian</a:t>
            </a:r>
            <a:r>
              <a:rPr lang="it-IT" dirty="0"/>
              <a:t> </a:t>
            </a:r>
            <a:r>
              <a:rPr lang="it-IT" dirty="0" err="1"/>
              <a:t>smoothing</a:t>
            </a:r>
            <a:r>
              <a:rPr lang="it-IT" dirty="0"/>
              <a:t>, </a:t>
            </a:r>
            <a:r>
              <a:rPr lang="it-IT" dirty="0" err="1"/>
              <a:t>Taubin</a:t>
            </a:r>
            <a:r>
              <a:rPr lang="it-IT" dirty="0"/>
              <a:t> </a:t>
            </a:r>
            <a:r>
              <a:rPr lang="it-IT" dirty="0" err="1"/>
              <a:t>smoothing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D50B75-700B-8F37-4573-6A363B56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11B2-B667-48E2-8AF5-6696B3DC649A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046A9E-E51B-D1C9-32C0-405C7D01B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9925BA-1DF4-E55B-84D4-7E907DA1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301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6CCB6E-D186-D030-7BFE-DC84F46D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Libigl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3E8DA6-AC9B-C467-147C-7E608F095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More </a:t>
            </a:r>
            <a:r>
              <a:rPr lang="it-IT" dirty="0" err="1"/>
              <a:t>oriented</a:t>
            </a:r>
            <a:r>
              <a:rPr lang="it-IT" dirty="0"/>
              <a:t> to </a:t>
            </a:r>
            <a:r>
              <a:rPr lang="it-IT" dirty="0" err="1"/>
              <a:t>geometry</a:t>
            </a:r>
            <a:r>
              <a:rPr lang="it-IT" dirty="0"/>
              <a:t> </a:t>
            </a:r>
            <a:r>
              <a:rPr lang="it-IT" dirty="0" err="1"/>
              <a:t>computation</a:t>
            </a:r>
            <a:endParaRPr lang="it-IT" dirty="0"/>
          </a:p>
          <a:p>
            <a:r>
              <a:rPr lang="it-IT" dirty="0"/>
              <a:t>Supports </a:t>
            </a:r>
            <a:r>
              <a:rPr lang="it-IT" dirty="0" err="1"/>
              <a:t>differential</a:t>
            </a:r>
            <a:r>
              <a:rPr lang="it-IT" dirty="0"/>
              <a:t> </a:t>
            </a:r>
            <a:r>
              <a:rPr lang="it-IT" dirty="0" err="1"/>
              <a:t>operators</a:t>
            </a:r>
            <a:r>
              <a:rPr lang="it-IT" dirty="0"/>
              <a:t> on meshes and </a:t>
            </a:r>
            <a:r>
              <a:rPr lang="it-IT" dirty="0" err="1"/>
              <a:t>allow</a:t>
            </a:r>
            <a:r>
              <a:rPr lang="it-IT" dirty="0"/>
              <a:t> the easy </a:t>
            </a:r>
            <a:r>
              <a:rPr lang="it-IT" dirty="0" err="1"/>
              <a:t>demonstration</a:t>
            </a:r>
            <a:r>
              <a:rPr lang="it-IT" dirty="0"/>
              <a:t> of </a:t>
            </a:r>
            <a:r>
              <a:rPr lang="it-IT" dirty="0" err="1"/>
              <a:t>spectral</a:t>
            </a:r>
            <a:r>
              <a:rPr lang="it-IT" dirty="0"/>
              <a:t> processing</a:t>
            </a:r>
          </a:p>
          <a:p>
            <a:r>
              <a:rPr lang="it-IT" dirty="0">
                <a:hlinkClick r:id="rId2"/>
              </a:rPr>
              <a:t>https://libigl.github.io</a:t>
            </a:r>
            <a:endParaRPr lang="it-IT" dirty="0"/>
          </a:p>
          <a:p>
            <a:pPr lvl="1"/>
            <a:r>
              <a:rPr lang="it-IT" dirty="0" err="1"/>
              <a:t>Gradients</a:t>
            </a:r>
            <a:r>
              <a:rPr lang="it-IT" dirty="0"/>
              <a:t>, Laplace-Beltrami operator</a:t>
            </a:r>
          </a:p>
          <a:p>
            <a:r>
              <a:rPr lang="it-IT" dirty="0"/>
              <a:t>C++ library with </a:t>
            </a:r>
            <a:r>
              <a:rPr lang="it-IT" dirty="0" err="1"/>
              <a:t>python</a:t>
            </a:r>
            <a:r>
              <a:rPr lang="it-IT" dirty="0"/>
              <a:t> </a:t>
            </a:r>
            <a:r>
              <a:rPr lang="it-IT" dirty="0" err="1"/>
              <a:t>bindings</a:t>
            </a:r>
            <a:endParaRPr lang="it-IT" dirty="0"/>
          </a:p>
          <a:p>
            <a:pPr lvl="1"/>
            <a:r>
              <a:rPr lang="it-IT" dirty="0"/>
              <a:t>https://libigl.github.io/libigl-python-bindings/tut-chapter0/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4B8C89-A0DC-1653-D826-00FD6301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5D0F-6662-4BF0-BC85-0D5D01C97B99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B70194-B4F8-BCE9-A22B-9E0920D8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1F8005-1EB7-5B53-6922-50515705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768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4B7495-0D1C-B727-3FAA-38AF349A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Gradients</a:t>
            </a:r>
            <a:r>
              <a:rPr lang="it-IT" dirty="0"/>
              <a:t>, </a:t>
            </a:r>
            <a:r>
              <a:rPr lang="it-IT" dirty="0" err="1"/>
              <a:t>laplacian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AFD7D5-F599-C003-DBFD-9494416A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Tutorial on </a:t>
            </a:r>
            <a:r>
              <a:rPr lang="it-IT" dirty="0">
                <a:hlinkClick r:id="rId2"/>
              </a:rPr>
              <a:t>https://libigl.github.io/libigl-python-bindings/tut-chapter1/</a:t>
            </a:r>
            <a:endParaRPr lang="it-IT" dirty="0"/>
          </a:p>
          <a:p>
            <a:r>
              <a:rPr lang="it-IT" dirty="0" err="1"/>
              <a:t>Curv_igl.ipynb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 to </a:t>
            </a:r>
            <a:r>
              <a:rPr lang="it-IT" dirty="0" err="1"/>
              <a:t>our</a:t>
            </a:r>
            <a:r>
              <a:rPr lang="it-IT" dirty="0"/>
              <a:t> model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E40A41-FAF8-1820-906C-EC544A96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CD7A-9431-42B3-94BC-854BC2E9C9DE}" type="datetime1">
              <a:rPr lang="it-IT" smtClean="0"/>
              <a:t>28/04/2026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FEBAF1-BB10-13B2-97FD-7A6A776F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9619BB-0D4B-CA80-9ACC-DA2BFE97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4928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A3F58B-459F-B60F-0B8C-E57F2921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Spectral</a:t>
            </a:r>
            <a:r>
              <a:rPr lang="it-IT" dirty="0"/>
              <a:t> </a:t>
            </a:r>
            <a:r>
              <a:rPr lang="it-IT" dirty="0" err="1"/>
              <a:t>decomposition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9D7DE7-F896-0F20-2A2F-FAF86F8F1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Given the </a:t>
            </a:r>
            <a:r>
              <a:rPr lang="it-IT" dirty="0" err="1"/>
              <a:t>cotangent</a:t>
            </a:r>
            <a:r>
              <a:rPr lang="it-IT" dirty="0"/>
              <a:t> weight, </a:t>
            </a:r>
            <a:r>
              <a:rPr lang="it-IT" dirty="0" err="1"/>
              <a:t>it</a:t>
            </a:r>
            <a:r>
              <a:rPr lang="it-IT" dirty="0"/>
              <a:t> can be </a:t>
            </a:r>
            <a:r>
              <a:rPr lang="it-IT" dirty="0" err="1"/>
              <a:t>easily</a:t>
            </a:r>
            <a:r>
              <a:rPr lang="it-IT" dirty="0"/>
              <a:t> </a:t>
            </a:r>
            <a:r>
              <a:rPr lang="it-IT" dirty="0" err="1"/>
              <a:t>computed</a:t>
            </a:r>
            <a:r>
              <a:rPr lang="it-IT" dirty="0"/>
              <a:t> with </a:t>
            </a:r>
            <a:r>
              <a:rPr lang="it-IT" dirty="0" err="1"/>
              <a:t>scipy</a:t>
            </a:r>
            <a:r>
              <a:rPr lang="it-IT" dirty="0"/>
              <a:t> </a:t>
            </a:r>
            <a:r>
              <a:rPr lang="it-IT" dirty="0" err="1"/>
              <a:t>functions</a:t>
            </a:r>
            <a:endParaRPr lang="it-IT" dirty="0"/>
          </a:p>
          <a:p>
            <a:r>
              <a:rPr lang="it-IT" dirty="0"/>
              <a:t>See </a:t>
            </a:r>
            <a:r>
              <a:rPr lang="it-IT" err="1"/>
              <a:t>spectra</a:t>
            </a:r>
            <a:r>
              <a:rPr lang="it-IT"/>
              <a:t>.ipynb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B9C0DC-611D-7930-B452-A07744FB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5D0F-6662-4BF0-BC85-0D5D01C97B99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C9BC78-3117-3073-AEF4-59F878E8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3082CC-9D37-3C3F-B61B-8212858B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851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B48C9F-3866-3CB1-838E-7B03E292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F1F177-A0C9-3ABA-AEEB-E5BBE8CC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Load a model </a:t>
            </a:r>
            <a:r>
              <a:rPr lang="it-IT" dirty="0" err="1"/>
              <a:t>created</a:t>
            </a:r>
            <a:r>
              <a:rPr lang="it-IT" dirty="0"/>
              <a:t> with a scanning procedure</a:t>
            </a:r>
          </a:p>
          <a:p>
            <a:pPr lvl="1"/>
            <a:r>
              <a:rPr lang="it-IT" dirty="0"/>
              <a:t>Check model features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pyvista</a:t>
            </a:r>
            <a:r>
              <a:rPr lang="it-IT" dirty="0"/>
              <a:t> (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manifold</a:t>
            </a:r>
            <a:r>
              <a:rPr lang="it-IT" dirty="0"/>
              <a:t>?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triangle</a:t>
            </a:r>
            <a:r>
              <a:rPr lang="it-IT" dirty="0"/>
              <a:t>? Face </a:t>
            </a:r>
            <a:r>
              <a:rPr lang="it-IT" dirty="0" err="1"/>
              <a:t>quality</a:t>
            </a:r>
            <a:r>
              <a:rPr lang="it-IT" dirty="0"/>
              <a:t>?)</a:t>
            </a:r>
          </a:p>
          <a:p>
            <a:pPr lvl="1"/>
            <a:r>
              <a:rPr lang="it-IT" dirty="0"/>
              <a:t>Compute and display mesh </a:t>
            </a:r>
            <a:r>
              <a:rPr lang="it-IT" dirty="0" err="1"/>
              <a:t>curvatures</a:t>
            </a:r>
            <a:endParaRPr lang="it-IT" dirty="0"/>
          </a:p>
          <a:p>
            <a:pPr lvl="1"/>
            <a:r>
              <a:rPr lang="it-IT" dirty="0" err="1"/>
              <a:t>Apply</a:t>
            </a:r>
            <a:r>
              <a:rPr lang="it-IT" dirty="0"/>
              <a:t> mesh </a:t>
            </a:r>
            <a:r>
              <a:rPr lang="it-IT" dirty="0" err="1"/>
              <a:t>decimation</a:t>
            </a:r>
            <a:r>
              <a:rPr lang="it-IT" dirty="0"/>
              <a:t> (</a:t>
            </a:r>
            <a:r>
              <a:rPr lang="it-IT" dirty="0" err="1"/>
              <a:t>factor</a:t>
            </a:r>
            <a:r>
              <a:rPr lang="it-IT" dirty="0"/>
              <a:t> 2) and </a:t>
            </a:r>
            <a:r>
              <a:rPr lang="it-IT" dirty="0" err="1"/>
              <a:t>save</a:t>
            </a:r>
            <a:r>
              <a:rPr lang="it-IT" dirty="0"/>
              <a:t> the </a:t>
            </a:r>
            <a:r>
              <a:rPr lang="it-IT" dirty="0" err="1"/>
              <a:t>simplified</a:t>
            </a:r>
            <a:r>
              <a:rPr lang="it-IT" dirty="0"/>
              <a:t> mesh</a:t>
            </a:r>
          </a:p>
          <a:p>
            <a:pPr lvl="1"/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Laplacian</a:t>
            </a:r>
            <a:r>
              <a:rPr lang="it-IT" dirty="0"/>
              <a:t> </a:t>
            </a:r>
            <a:r>
              <a:rPr lang="it-IT" dirty="0" err="1"/>
              <a:t>smoothing</a:t>
            </a:r>
            <a:r>
              <a:rPr lang="it-IT" dirty="0"/>
              <a:t> and </a:t>
            </a:r>
            <a:r>
              <a:rPr lang="it-IT" dirty="0" err="1"/>
              <a:t>Taubin</a:t>
            </a:r>
            <a:r>
              <a:rPr lang="it-IT" dirty="0"/>
              <a:t> </a:t>
            </a:r>
            <a:r>
              <a:rPr lang="it-IT" dirty="0" err="1"/>
              <a:t>smoothing</a:t>
            </a:r>
            <a:r>
              <a:rPr lang="it-IT" dirty="0"/>
              <a:t> and compare the </a:t>
            </a:r>
            <a:r>
              <a:rPr lang="it-IT" dirty="0" err="1"/>
              <a:t>result</a:t>
            </a:r>
            <a:endParaRPr lang="it-IT" dirty="0"/>
          </a:p>
          <a:p>
            <a:pPr lvl="2"/>
            <a:r>
              <a:rPr lang="it-IT" dirty="0"/>
              <a:t>Check mesh </a:t>
            </a:r>
            <a:r>
              <a:rPr lang="it-IT" dirty="0" err="1"/>
              <a:t>quality</a:t>
            </a:r>
            <a:r>
              <a:rPr lang="it-IT" dirty="0"/>
              <a:t> and </a:t>
            </a:r>
            <a:r>
              <a:rPr lang="it-IT" dirty="0" err="1"/>
              <a:t>volumes</a:t>
            </a:r>
            <a:r>
              <a:rPr lang="it-IT" dirty="0"/>
              <a:t> after </a:t>
            </a:r>
            <a:r>
              <a:rPr lang="it-IT" dirty="0" err="1"/>
              <a:t>both</a:t>
            </a:r>
            <a:r>
              <a:rPr lang="it-IT" dirty="0"/>
              <a:t> filterings</a:t>
            </a:r>
          </a:p>
          <a:p>
            <a:pPr lvl="2"/>
            <a:r>
              <a:rPr lang="it-IT" dirty="0"/>
              <a:t>Advanced: </a:t>
            </a: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methods</a:t>
            </a:r>
            <a:r>
              <a:rPr lang="it-IT" dirty="0"/>
              <a:t> to estimate </a:t>
            </a:r>
            <a:r>
              <a:rPr lang="it-IT" dirty="0" err="1"/>
              <a:t>distance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models</a:t>
            </a:r>
          </a:p>
          <a:p>
            <a:pPr lvl="1"/>
            <a:r>
              <a:rPr lang="it-IT" dirty="0"/>
              <a:t>Compute </a:t>
            </a:r>
            <a:r>
              <a:rPr lang="it-IT" dirty="0" err="1"/>
              <a:t>spectral</a:t>
            </a:r>
            <a:r>
              <a:rPr lang="it-IT" dirty="0"/>
              <a:t> </a:t>
            </a:r>
            <a:r>
              <a:rPr lang="it-IT" dirty="0" err="1"/>
              <a:t>decomposition</a:t>
            </a:r>
            <a:r>
              <a:rPr lang="it-IT" dirty="0"/>
              <a:t> and </a:t>
            </a:r>
            <a:r>
              <a:rPr lang="it-IT" dirty="0" err="1"/>
              <a:t>try</a:t>
            </a:r>
            <a:r>
              <a:rPr lang="it-IT" dirty="0"/>
              <a:t> to </a:t>
            </a:r>
            <a:r>
              <a:rPr lang="it-IT" dirty="0" err="1"/>
              <a:t>enhance</a:t>
            </a:r>
            <a:r>
              <a:rPr lang="it-IT" dirty="0"/>
              <a:t> high frequency </a:t>
            </a:r>
            <a:r>
              <a:rPr lang="it-IT" dirty="0" err="1"/>
              <a:t>components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9B1DA5-8E44-15E3-5836-10BD15D9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B1FE5-2C07-4E52-86A2-BF26C09A80AA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093419-A50D-A445-6FE2-EC8C97B5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F973AC-9D48-4439-6A1A-8785069D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2837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38090A-77C7-B7BB-E731-C0D7185E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homework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448B0D-EC9C-2CFC-F4F7-CBE5DAAF0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Create a </a:t>
            </a:r>
            <a:r>
              <a:rPr lang="it-IT" dirty="0" err="1"/>
              <a:t>closed</a:t>
            </a:r>
            <a:r>
              <a:rPr lang="it-IT" dirty="0"/>
              <a:t> mesh from </a:t>
            </a:r>
            <a:r>
              <a:rPr lang="it-IT" dirty="0" err="1"/>
              <a:t>partial</a:t>
            </a:r>
            <a:r>
              <a:rPr lang="it-IT" dirty="0"/>
              <a:t> SFM </a:t>
            </a:r>
            <a:r>
              <a:rPr lang="it-IT" dirty="0" err="1"/>
              <a:t>reconstructions</a:t>
            </a:r>
            <a:r>
              <a:rPr lang="it-IT" dirty="0"/>
              <a:t>,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registration</a:t>
            </a:r>
            <a:r>
              <a:rPr lang="it-IT" dirty="0"/>
              <a:t> and </a:t>
            </a:r>
            <a:r>
              <a:rPr lang="it-IT" dirty="0" err="1"/>
              <a:t>meshing</a:t>
            </a:r>
            <a:r>
              <a:rPr lang="it-IT" dirty="0"/>
              <a:t> tools </a:t>
            </a:r>
            <a:r>
              <a:rPr lang="it-IT" dirty="0" err="1"/>
              <a:t>seen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Combine with a part </a:t>
            </a:r>
            <a:r>
              <a:rPr lang="it-IT" dirty="0" err="1"/>
              <a:t>modeled</a:t>
            </a:r>
            <a:r>
              <a:rPr lang="it-IT" dirty="0"/>
              <a:t> in Blender (e.g., a support for a statue) and create a </a:t>
            </a:r>
            <a:r>
              <a:rPr lang="it-IT" dirty="0" err="1"/>
              <a:t>valid</a:t>
            </a:r>
            <a:r>
              <a:rPr lang="it-IT" dirty="0"/>
              <a:t> </a:t>
            </a:r>
            <a:r>
              <a:rPr lang="it-IT" dirty="0" err="1"/>
              <a:t>manifold</a:t>
            </a:r>
            <a:r>
              <a:rPr lang="it-IT" dirty="0"/>
              <a:t>, </a:t>
            </a:r>
            <a:r>
              <a:rPr lang="it-IT" dirty="0" err="1"/>
              <a:t>closed</a:t>
            </a:r>
            <a:r>
              <a:rPr lang="it-IT" dirty="0"/>
              <a:t> mesh (check)</a:t>
            </a:r>
          </a:p>
          <a:p>
            <a:r>
              <a:rPr lang="it-IT" dirty="0"/>
              <a:t>Slice to </a:t>
            </a:r>
            <a:r>
              <a:rPr lang="it-IT" dirty="0" err="1"/>
              <a:t>prepare</a:t>
            </a:r>
            <a:r>
              <a:rPr lang="it-IT" dirty="0"/>
              <a:t> for printing (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next</a:t>
            </a:r>
            <a:r>
              <a:rPr lang="it-IT" dirty="0"/>
              <a:t> week)</a:t>
            </a:r>
          </a:p>
          <a:p>
            <a:r>
              <a:rPr lang="it-IT" dirty="0"/>
              <a:t>Upload </a:t>
            </a:r>
            <a:r>
              <a:rPr lang="it-IT" dirty="0" err="1"/>
              <a:t>partial</a:t>
            </a:r>
            <a:r>
              <a:rPr lang="it-IT" dirty="0"/>
              <a:t> models, </a:t>
            </a:r>
            <a:r>
              <a:rPr lang="it-IT" dirty="0" err="1"/>
              <a:t>final</a:t>
            </a:r>
            <a:r>
              <a:rPr lang="it-IT" dirty="0"/>
              <a:t> model and G-Code on a zip file </a:t>
            </a:r>
          </a:p>
          <a:p>
            <a:r>
              <a:rPr lang="it-IT" dirty="0"/>
              <a:t>Deadline: May 10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DA0D0F-CA17-0111-13C9-97564EEA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BB6A-A3B0-4EB5-85D3-360623D11E0E}" type="datetime1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40032A-31D3-98EC-B0EB-3A9140E6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25/26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DF8980-715E-FE47-AB18-89FC442B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2571595"/>
      </p:ext>
    </p:extLst>
  </p:cSld>
  <p:clrMapOvr>
    <a:masterClrMapping/>
  </p:clrMapOvr>
</p:sld>
</file>

<file path=ppt/theme/theme1.xml><?xml version="1.0" encoding="utf-8"?>
<a:theme xmlns:a="http://schemas.openxmlformats.org/drawingml/2006/main" name="lez1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4d3ab7-1470-4128-9622-ec1cbb31ed7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5592A4ADA142965D394470E5BDCC" ma:contentTypeVersion="18" ma:contentTypeDescription="Creare un nuovo documento." ma:contentTypeScope="" ma:versionID="16c1fc67e0964c4d38efecdd28d8fa2f">
  <xsd:schema xmlns:xsd="http://www.w3.org/2001/XMLSchema" xmlns:xs="http://www.w3.org/2001/XMLSchema" xmlns:p="http://schemas.microsoft.com/office/2006/metadata/properties" xmlns:ns3="6b4d3ab7-1470-4128-9622-ec1cbb31ed76" xmlns:ns4="6e7c07e5-4464-4a81-82bd-bfb2b8f1e56b" targetNamespace="http://schemas.microsoft.com/office/2006/metadata/properties" ma:root="true" ma:fieldsID="2aaf83fee18be6c0bc1d39586c11fdee" ns3:_="" ns4:_="">
    <xsd:import namespace="6b4d3ab7-1470-4128-9622-ec1cbb31ed76"/>
    <xsd:import namespace="6e7c07e5-4464-4a81-82bd-bfb2b8f1e5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d3ab7-1470-4128-9622-ec1cbb31e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c07e5-4464-4a81-82bd-bfb2b8f1e56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FB213B-1BC7-44D2-A873-8D8A7D7FD452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6e7c07e5-4464-4a81-82bd-bfb2b8f1e56b"/>
    <ds:schemaRef ds:uri="http://purl.org/dc/dcmitype/"/>
    <ds:schemaRef ds:uri="6b4d3ab7-1470-4128-9622-ec1cbb31ed76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87F9D8-BB39-4B50-9844-B26F81374B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6590C2-FA63-4781-AFEF-83BE33573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4d3ab7-1470-4128-9622-ec1cbb31ed76"/>
    <ds:schemaRef ds:uri="6e7c07e5-4464-4a81-82bd-bfb2b8f1e5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38237</TotalTime>
  <Words>941</Words>
  <Application>Microsoft Office PowerPoint</Application>
  <PresentationFormat>Personalizzato</PresentationFormat>
  <Paragraphs>171</Paragraphs>
  <Slides>16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7" baseType="lpstr">
      <vt:lpstr>Sketch Block</vt:lpstr>
      <vt:lpstr>Arial</vt:lpstr>
      <vt:lpstr>Verdana</vt:lpstr>
      <vt:lpstr>Rockwell</vt:lpstr>
      <vt:lpstr>Qlassik Medium</vt:lpstr>
      <vt:lpstr>Abadi</vt:lpstr>
      <vt:lpstr>Symbol</vt:lpstr>
      <vt:lpstr>StarSymbol</vt:lpstr>
      <vt:lpstr>Calibri</vt:lpstr>
      <vt:lpstr>Qlassik Bold</vt:lpstr>
      <vt:lpstr>lez11</vt:lpstr>
      <vt:lpstr>Advanced Visual Computing  (Digital Design)</vt:lpstr>
      <vt:lpstr>Today</vt:lpstr>
      <vt:lpstr>Open 3D functions</vt:lpstr>
      <vt:lpstr>Mesh properties</vt:lpstr>
      <vt:lpstr>Open 3D functions for smoothing</vt:lpstr>
      <vt:lpstr>Other python libraries for mesh processing</vt:lpstr>
      <vt:lpstr>PyVista</vt:lpstr>
      <vt:lpstr>PyVista</vt:lpstr>
      <vt:lpstr>Note: pyvista and meshes</vt:lpstr>
      <vt:lpstr>Subdivision/decimation</vt:lpstr>
      <vt:lpstr>Code</vt:lpstr>
      <vt:lpstr>Libigl</vt:lpstr>
      <vt:lpstr>Gradients, laplacian</vt:lpstr>
      <vt:lpstr>Spectral decomposition</vt:lpstr>
      <vt:lpstr>Exercise</vt:lpstr>
      <vt:lpstr>Final 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 - Interazione Uomo Macchina</dc:title>
  <dc:creator>andrea giachetti</dc:creator>
  <cp:lastModifiedBy>Andrea Giachetti</cp:lastModifiedBy>
  <cp:revision>759</cp:revision>
  <cp:lastPrinted>2020-03-10T15:42:29Z</cp:lastPrinted>
  <dcterms:created xsi:type="dcterms:W3CDTF">2007-04-16T16:52:06Z</dcterms:created>
  <dcterms:modified xsi:type="dcterms:W3CDTF">2026-04-28T20:45:35Z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  <property fmtid="{D5CDD505-2E9C-101B-9397-08002B2CF9AE}" pid="6" name="ContentTypeId">
    <vt:lpwstr>0x010100BB3F5592A4ADA142965D394470E5BDCC</vt:lpwstr>
  </property>
</Properties>
</file>