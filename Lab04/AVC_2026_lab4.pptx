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351" r:id="rId5"/>
    <p:sldId id="362" r:id="rId6"/>
    <p:sldId id="364" r:id="rId7"/>
    <p:sldId id="370" r:id="rId8"/>
    <p:sldId id="372" r:id="rId9"/>
    <p:sldId id="374" r:id="rId10"/>
    <p:sldId id="375" r:id="rId11"/>
    <p:sldId id="365" r:id="rId12"/>
    <p:sldId id="373" r:id="rId13"/>
  </p:sldIdLst>
  <p:sldSz cx="13439775" cy="7559675"/>
  <p:notesSz cx="7104063" cy="10234613"/>
  <p:embeddedFontLst>
    <p:embeddedFont>
      <p:font typeface="Abadi" panose="020B0604020104020204" pitchFamily="34" charset="0"/>
      <p:regular r:id="rId16"/>
      <p:bold r:id="rId17"/>
      <p:italic r:id="rId18"/>
      <p:boldItalic r:id="rId19"/>
    </p:embeddedFont>
    <p:embeddedFont>
      <p:font typeface="Qlassik Bold" panose="05070000000000000000" pitchFamily="18" charset="0"/>
      <p:bold r:id="rId20"/>
    </p:embeddedFont>
    <p:embeddedFont>
      <p:font typeface="Qlassik Medium" panose="05070000000000000000" pitchFamily="18" charset="0"/>
      <p:regular r:id="rId21"/>
    </p:embeddedFont>
    <p:embeddedFont>
      <p:font typeface="Rockwell" panose="02060603020205020403" pitchFamily="18" charset="0"/>
      <p:regular r:id="rId22"/>
      <p:bold r:id="rId23"/>
      <p:italic r:id="rId24"/>
      <p:boldItalic r:id="rId25"/>
    </p:embeddedFont>
    <p:embeddedFont>
      <p:font typeface="Sketch Block" panose="02000000000000000000" pitchFamily="2" charset="0"/>
      <p:regular r:id="rId26"/>
    </p:embeddedFont>
    <p:embeddedFont>
      <p:font typeface="StarSymbol" panose="05000000000000000000" pitchFamily="2" charset="0"/>
      <p:regular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032" autoAdjust="0"/>
  </p:normalViewPr>
  <p:slideViewPr>
    <p:cSldViewPr>
      <p:cViewPr varScale="1">
        <p:scale>
          <a:sx n="57" d="100"/>
          <a:sy n="57" d="100"/>
        </p:scale>
        <p:origin x="510" y="45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3802" y="1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4021162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algn="r"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021162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algn="r" hangingPunct="0">
              <a:defRPr sz="1400"/>
            </a:pPr>
            <a:fld id="{E74C1C3F-7EE1-4583-9610-50D269EDCB3D}" type="slidenum">
              <a:pPr algn="r" hangingPunct="0">
                <a:defRPr sz="1400"/>
              </a:pPr>
              <a:t>‹N›</a:t>
            </a:fld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76607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7104368" cy="10234792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2746" rIns="85491" bIns="42746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Figura a mano libera 2"/>
          <p:cNvSpPr/>
          <p:nvPr/>
        </p:nvSpPr>
        <p:spPr>
          <a:xfrm>
            <a:off x="0" y="0"/>
            <a:ext cx="7105045" cy="10236170"/>
          </a:xfrm>
          <a:custGeom>
            <a:avLst>
              <a:gd name="f0" fmla="val 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4455" rIns="85491" bIns="44455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5643225" y="-7366000"/>
            <a:ext cx="31288038" cy="17600613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egnaposto note 4"/>
          <p:cNvSpPr txBox="1">
            <a:spLocks noGrp="1"/>
          </p:cNvSpPr>
          <p:nvPr>
            <p:ph type="body" sz="quarter" idx="3"/>
          </p:nvPr>
        </p:nvSpPr>
        <p:spPr>
          <a:xfrm>
            <a:off x="709422" y="4861699"/>
            <a:ext cx="5681465" cy="46049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65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it-IT" sz="2000" b="0" i="0" u="none" strike="noStrike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32426"/>
          </a:xfrm>
        </p:spPr>
        <p:txBody>
          <a:bodyPr>
            <a:spAutoFit/>
          </a:bodyPr>
          <a:lstStyle/>
          <a:p>
            <a:endParaRPr lang="it-IT" sz="2810" kern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6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07457" y="2347918"/>
            <a:ext cx="11424867" cy="1620837"/>
          </a:xfrm>
        </p:spPr>
        <p:txBody>
          <a:bodyPr/>
          <a:lstStyle>
            <a:lvl1pPr>
              <a:buFontTx/>
              <a:buNone/>
              <a:defRPr sz="66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017027" y="4283075"/>
            <a:ext cx="9407842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68D9F14-1B84-4F9A-8331-25DBB8664D42}" type="datetime1">
              <a:rPr lang="it-IT" smtClean="0"/>
              <a:t>07/04/2026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55BC8DA-C10C-404D-8B72-5A3EDF8878D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82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43AD040-3105-44F4-BED6-8C326CC73679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B04B791-897E-4328-B3FD-2D81E4AD606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94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2483" y="4857755"/>
            <a:ext cx="11422751" cy="1501775"/>
          </a:xfrm>
        </p:spPr>
        <p:txBody>
          <a:bodyPr anchor="t"/>
          <a:lstStyle>
            <a:lvl1pPr algn="l">
              <a:buFontTx/>
              <a:buNone/>
              <a:defRPr sz="5400" b="1" cap="all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2483" y="3203577"/>
            <a:ext cx="11422751" cy="1654175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53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1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815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69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72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D371868-9974-43AD-99A9-65FF822DE694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4CF43EEC-617B-4860-93DC-558AFDA2912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985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2040" y="1681163"/>
            <a:ext cx="6216160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7001383" y="1681163"/>
            <a:ext cx="5855366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E245185F-1D67-4B61-9AA2-064AE01BF7B4}" type="datetime1">
              <a:rPr lang="it-IT" smtClean="0"/>
              <a:t>07/04/2026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F158BD1-7A9B-4461-A385-B543F473307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46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9" y="303218"/>
            <a:ext cx="12095798" cy="1258887"/>
          </a:xfrm>
        </p:spPr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3047" y="1692275"/>
            <a:ext cx="5936783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73047" y="2397125"/>
            <a:ext cx="5936783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827831" y="1692275"/>
            <a:ext cx="5941016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827831" y="2397125"/>
            <a:ext cx="5941016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B652DB-E8A9-436D-A44F-1383BF7CBB6A}" type="datetime1">
              <a:rPr lang="it-IT" smtClean="0"/>
              <a:t>07/04/2026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A2F18FA-F34A-48B2-B8AB-ABDE98A2E6CA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77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496FC938-03F8-4820-8236-B7D3A1558F6A}" type="datetime1">
              <a:rPr lang="it-IT" smtClean="0"/>
              <a:t>07/04/2026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C645D62E-CFA1-4826-879F-F4B5BC17AD5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26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64B76253-1A69-41B0-BF65-101E392AF856}" type="datetime1">
              <a:rPr lang="it-IT" smtClean="0"/>
              <a:t>07/04/2026</a:t>
            </a:fld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5A7C861E-D030-43FF-AC94-E2D5143DF10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7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7" y="301630"/>
            <a:ext cx="4421369" cy="127952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55273" y="301625"/>
            <a:ext cx="7513575" cy="6451600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73047" y="1581154"/>
            <a:ext cx="4421369" cy="5172075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1D5576F-7BBD-4399-974E-2E8A82C0973B}" type="datetime1">
              <a:rPr lang="it-IT" smtClean="0"/>
              <a:t>07/04/2026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6B80B6E-A4D6-4411-B888-14C3E70F21A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90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635046" y="5291143"/>
            <a:ext cx="8063865" cy="62547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635046" y="674693"/>
            <a:ext cx="8063865" cy="4537075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635046" y="5916613"/>
            <a:ext cx="8063865" cy="887412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153BD3D-6A66-48B6-9482-1D5D7CC1FEBA}" type="datetime1">
              <a:rPr lang="it-IT" smtClean="0"/>
              <a:t>07/04/2026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E76AA5-F148-42C4-A2A9-57D958F3988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07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17185CF9-E3E0-4A47-A06B-12A767910185}" type="datetime1">
              <a:rPr lang="it-IT" smtClean="0"/>
              <a:t>07/04/2026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1C91C-D157-48DC-9B11-DE3A292616F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32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10061841" y="122243"/>
            <a:ext cx="3157818" cy="654843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582038" y="122243"/>
            <a:ext cx="9276619" cy="654843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0D8399B-9902-4156-8D18-F3E05F4710FE}" type="datetime1">
              <a:rPr lang="it-IT" smtClean="0"/>
              <a:t>07/04/2026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1E018E-FCA6-4918-88A3-3822F9A4166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94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89" y="302737"/>
            <a:ext cx="12095798" cy="12599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71988" y="1763925"/>
            <a:ext cx="5935901" cy="4989036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1887" y="1763925"/>
            <a:ext cx="5935901" cy="4989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14673-CCC5-4781-80F0-A3AA633F4F85}" type="datetime1">
              <a:rPr lang="it-IT" smtClean="0"/>
              <a:t>07/04/2026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AVC 25/26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1D4BC3-C9B1-47AE-8C50-FA0E2EF8A16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5931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4976" y="73497"/>
            <a:ext cx="12255319" cy="826517"/>
          </a:xfrm>
          <a:prstGeom prst="rect">
            <a:avLst/>
          </a:prstGeom>
          <a:solidFill>
            <a:srgbClr val="185C72">
              <a:alpha val="60000"/>
            </a:srgbClr>
          </a:solidFill>
          <a:ln>
            <a:noFill/>
          </a:ln>
        </p:spPr>
        <p:txBody>
          <a:bodyPr anchor="ctr"/>
          <a:lstStyle>
            <a:lvl1pPr>
              <a:defRPr lang="de-CH" sz="3527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3743" y="1128241"/>
            <a:ext cx="12724038" cy="52024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03921" y="6709211"/>
            <a:ext cx="7661556" cy="755968"/>
          </a:xfrm>
          <a:prstGeom prst="rect">
            <a:avLst/>
          </a:prstGeom>
        </p:spPr>
        <p:txBody>
          <a:bodyPr anchor="ctr"/>
          <a:lstStyle>
            <a:lvl1pPr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CH"/>
              <a:t>AVC 25/26</a:t>
            </a:r>
            <a:endParaRPr lang="de-CH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65478" y="6709211"/>
            <a:ext cx="760409" cy="755968"/>
          </a:xfrm>
          <a:prstGeom prst="rect">
            <a:avLst/>
          </a:prstGeom>
        </p:spPr>
        <p:txBody>
          <a:bodyPr anchor="ctr"/>
          <a:lstStyle>
            <a:lvl1pPr algn="r"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B5F642D-6A31-4596-8C22-CC368C1BDF36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9909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671989" y="167993"/>
            <a:ext cx="12095798" cy="1343942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8259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2"/>
          <p:cNvSpPr txBox="1"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 dirty="0"/>
          </a:p>
        </p:txBody>
      </p:sp>
      <p:sp>
        <p:nvSpPr>
          <p:cNvPr id="4" name="Segnaposto testo 3"/>
          <p:cNvSpPr txBox="1">
            <a:spLocks noGrp="1"/>
          </p:cNvSpPr>
          <p:nvPr>
            <p:ph type="body" idx="1"/>
          </p:nvPr>
        </p:nvSpPr>
        <p:spPr>
          <a:xfrm>
            <a:off x="582196" y="1681200"/>
            <a:ext cx="12274555" cy="4989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None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defPPr>
            <a:lvl1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Char char="·"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1pPr>
            <a:lvl2pPr marL="864000" marR="0" lvl="1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579D1C"/>
              </a:buClr>
              <a:buSzPct val="85000"/>
              <a:buFont typeface="Symbol"/>
              <a:buChar char="·"/>
              <a:tabLst>
                <a:tab pos="18000" algn="l"/>
              </a:tabLst>
              <a:defRPr lang="it-IT" sz="28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2pPr>
            <a:lvl3pPr marL="1295999" marR="0" lvl="2" indent="-288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9999FF"/>
              </a:buClr>
              <a:buSzPct val="75000"/>
              <a:buFont typeface="Symbol"/>
              <a:buChar char="·"/>
              <a:tabLst>
                <a:tab pos="18000" algn="l"/>
              </a:tabLst>
              <a:defRPr lang="it-IT" sz="26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3pPr>
            <a:lvl4pPr marL="1728000" marR="0" lvl="3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70000"/>
              <a:buFont typeface="Symbol"/>
              <a:buChar char="·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4pPr>
            <a:lvl5pPr marL="2160000" marR="0" lvl="4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5pPr>
            <a:lvl6pPr marL="2592000" marR="0" lvl="5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6pPr>
            <a:lvl7pPr marL="3024000" marR="0" lvl="6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7pPr>
            <a:lvl8pPr marL="3456000" marR="0" lvl="7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8pPr>
            <a:lvl9pPr marL="3887999" marR="0" lvl="8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9pPr>
          </a:lstStyle>
          <a:p>
            <a:pPr lvl="0"/>
            <a:r>
              <a:rPr lang="it-IT" dirty="0"/>
              <a:t>Click to edit the outline text format</a:t>
            </a:r>
          </a:p>
          <a:p>
            <a:pPr lvl="1"/>
            <a:r>
              <a:rPr lang="it-IT" dirty="0"/>
              <a:t>Second Outline Level</a:t>
            </a:r>
          </a:p>
          <a:p>
            <a:pPr lvl="2"/>
            <a:r>
              <a:rPr lang="it-IT" dirty="0"/>
              <a:t>Third Outline Level</a:t>
            </a:r>
          </a:p>
          <a:p>
            <a:pPr lvl="3"/>
            <a:r>
              <a:rPr lang="it-IT" dirty="0"/>
              <a:t>Fourth Outline Level</a:t>
            </a:r>
          </a:p>
          <a:p>
            <a:pPr lvl="4"/>
            <a:r>
              <a:rPr lang="it-IT" dirty="0"/>
              <a:t>Fifth Outline Level</a:t>
            </a:r>
          </a:p>
          <a:p>
            <a:pPr lvl="5"/>
            <a:r>
              <a:rPr lang="it-IT" dirty="0"/>
              <a:t>Sixth Outline Level</a:t>
            </a:r>
          </a:p>
          <a:p>
            <a:pPr lvl="6"/>
            <a:r>
              <a:rPr lang="it-IT" dirty="0"/>
              <a:t>Seventh Outline Level</a:t>
            </a:r>
          </a:p>
          <a:p>
            <a:pPr lvl="7"/>
            <a:r>
              <a:rPr lang="it-IT" dirty="0"/>
              <a:t>Eighth Outline Level</a:t>
            </a:r>
          </a:p>
          <a:p>
            <a:pPr lvl="8"/>
            <a:r>
              <a:rPr lang="it-IT" dirty="0"/>
              <a:t>Ninth Outline Level</a:t>
            </a:r>
          </a:p>
        </p:txBody>
      </p:sp>
      <p:sp>
        <p:nvSpPr>
          <p:cNvPr id="5" name="Segnaposto data 4"/>
          <p:cNvSpPr txBox="1">
            <a:spLocks noGrp="1"/>
          </p:cNvSpPr>
          <p:nvPr>
            <p:ph type="dt" sz="half" idx="2"/>
          </p:nvPr>
        </p:nvSpPr>
        <p:spPr>
          <a:xfrm>
            <a:off x="671946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BEF3B7F6-C124-477D-922F-3E851094E0BA}" type="datetime1">
              <a:rPr lang="it-IT" smtClean="0"/>
              <a:t>07/04/2026</a:t>
            </a:fld>
            <a:endParaRPr lang="it-IT" dirty="0"/>
          </a:p>
        </p:txBody>
      </p:sp>
      <p:sp>
        <p:nvSpPr>
          <p:cNvPr id="6" name="Segnaposto piè di pagina 5"/>
          <p:cNvSpPr txBox="1">
            <a:spLocks noGrp="1"/>
          </p:cNvSpPr>
          <p:nvPr>
            <p:ph type="ftr" sz="quarter" idx="3"/>
          </p:nvPr>
        </p:nvSpPr>
        <p:spPr>
          <a:xfrm>
            <a:off x="4596118" y="7041605"/>
            <a:ext cx="4259665" cy="366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r>
              <a:rPr lang="it-IT"/>
              <a:t>AVC 25/26</a:t>
            </a:r>
            <a:endParaRPr lang="it-IT" dirty="0"/>
          </a:p>
        </p:txBody>
      </p:sp>
      <p:sp>
        <p:nvSpPr>
          <p:cNvPr id="7" name="Segnaposto numero diapositiva 6"/>
          <p:cNvSpPr txBox="1">
            <a:spLocks noGrp="1"/>
          </p:cNvSpPr>
          <p:nvPr>
            <p:ph type="sldNum" sz="quarter" idx="4"/>
          </p:nvPr>
        </p:nvSpPr>
        <p:spPr>
          <a:xfrm>
            <a:off x="9635721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C520E673-7DC9-43D6-AF14-D86C202CC653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52" y="0"/>
            <a:ext cx="13439423" cy="7559675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8BE3401-8D83-BC07-FBB8-F8C4D91C82E0}"/>
              </a:ext>
            </a:extLst>
          </p:cNvPr>
          <p:cNvSpPr/>
          <p:nvPr userDrawn="1"/>
        </p:nvSpPr>
        <p:spPr>
          <a:xfrm>
            <a:off x="0" y="0"/>
            <a:ext cx="1967359" cy="1979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oscurità, Policromia, schermata&#10;&#10;Descrizione generata automaticamente">
            <a:extLst>
              <a:ext uri="{FF2B5EF4-FFF2-40B4-BE49-F238E27FC236}">
                <a16:creationId xmlns:a16="http://schemas.microsoft.com/office/drawing/2014/main" id="{B06A1663-E8F1-30C8-90E8-766907D708E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1" y="183926"/>
            <a:ext cx="3443583" cy="4275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/>
  <p:txStyles>
    <p:titleStyle>
      <a:lvl1pPr algn="ctr" rtl="0" hangingPunct="0">
        <a:buFontTx/>
        <a:buNone/>
        <a:tabLst/>
        <a:defRPr lang="it-IT" sz="7199" b="1" i="0" u="none" strike="noStrike" kern="1200">
          <a:ln>
            <a:noFill/>
          </a:ln>
          <a:solidFill>
            <a:srgbClr val="800000"/>
          </a:solidFill>
          <a:latin typeface="Qlassik Bold" pitchFamily="2"/>
        </a:defRPr>
      </a:lvl1pPr>
    </p:titleStyle>
    <p:bodyStyle>
      <a:lvl1pPr lvl="0">
        <a:buClr>
          <a:srgbClr val="800000"/>
        </a:buClr>
        <a:buSzPct val="9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1pPr>
      <a:lvl2pPr lvl="1">
        <a:buClr>
          <a:srgbClr val="579D1C"/>
        </a:buClr>
        <a:buSzPct val="8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2pPr>
      <a:lvl3pPr lvl="2">
        <a:buClr>
          <a:srgbClr val="9999FF"/>
        </a:buClr>
        <a:buSzPct val="7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3pPr>
      <a:lvl4pPr lvl="3">
        <a:buSzPct val="70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4pPr>
      <a:lvl5pPr lvl="4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5pPr>
      <a:lvl6pPr lvl="5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6pPr>
      <a:lvl7pPr lvl="6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7pPr>
      <a:lvl8pPr lvl="7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8pPr>
      <a:lvl9pPr lvl="8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a.giachetti@univr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it-IT" dirty="0"/>
              <a:t>Advanced Visual Computing </a:t>
            </a:r>
            <a:br>
              <a:rPr lang="it-IT" dirty="0"/>
            </a:br>
            <a:r>
              <a:rPr lang="it-IT" dirty="0"/>
              <a:t>(Digital Design)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731" y="4450768"/>
            <a:ext cx="10415296" cy="2575781"/>
          </a:xfrm>
        </p:spPr>
        <p:txBody>
          <a:bodyPr/>
          <a:lstStyle/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Lab 4: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Photometric</a:t>
            </a: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 Stereo</a:t>
            </a:r>
          </a:p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Andrea Giachetti University of Verona, Italy</a:t>
            </a:r>
            <a:b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  <a:hlinkClick r:id="rId3"/>
              </a:rPr>
              <a:t>andrea.giachetti@univr.it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br>
              <a:rPr lang="it-IT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endParaRPr lang="it-IT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endParaRPr lang="it-IT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C29AE43-85F1-4C2A-BF58-D2EC3609656C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it-IT"/>
              <a:t>AVC 25/26</a:t>
            </a:r>
            <a:endParaRPr lang="it-IT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35B84F-6186-40EE-8B7D-48376816C3AB}" type="slidenum">
              <a:rPr lang="it-IT" smtClean="0"/>
              <a:pPr lvl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55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21234-AE29-457D-981B-A50A6709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Photometric</a:t>
            </a:r>
            <a:r>
              <a:rPr lang="it-IT" dirty="0"/>
              <a:t> Stereo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A4793-FEA9-2C0D-9D4E-E9E5785E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Let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, </a:t>
            </a:r>
            <a:r>
              <a:rPr lang="it-IT" dirty="0" err="1"/>
              <a:t>practically</a:t>
            </a:r>
            <a:r>
              <a:rPr lang="it-IT" dirty="0"/>
              <a:t>,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works</a:t>
            </a:r>
          </a:p>
          <a:p>
            <a:pPr lvl="1"/>
            <a:r>
              <a:rPr lang="it-IT" dirty="0"/>
              <a:t>Active </a:t>
            </a:r>
            <a:r>
              <a:rPr lang="it-IT" dirty="0" err="1"/>
              <a:t>research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 on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kind</a:t>
            </a:r>
            <a:r>
              <a:rPr lang="it-IT" dirty="0"/>
              <a:t> of images</a:t>
            </a:r>
          </a:p>
          <a:p>
            <a:pPr lvl="1"/>
            <a:r>
              <a:rPr lang="it-IT" dirty="0" err="1"/>
              <a:t>Potential</a:t>
            </a:r>
            <a:r>
              <a:rPr lang="it-IT" dirty="0"/>
              <a:t> </a:t>
            </a:r>
            <a:r>
              <a:rPr lang="it-IT" dirty="0" err="1"/>
              <a:t>topic</a:t>
            </a:r>
            <a:r>
              <a:rPr lang="it-IT" dirty="0"/>
              <a:t> for projects (and internship/</a:t>
            </a:r>
            <a:r>
              <a:rPr lang="it-IT" dirty="0" err="1"/>
              <a:t>theses</a:t>
            </a:r>
            <a:r>
              <a:rPr lang="it-IT" dirty="0"/>
              <a:t>)</a:t>
            </a:r>
          </a:p>
          <a:p>
            <a:r>
              <a:rPr lang="it-IT" dirty="0"/>
              <a:t>Lab 4 folder</a:t>
            </a:r>
          </a:p>
          <a:p>
            <a:pPr lvl="1"/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dirty="0" err="1"/>
              <a:t>synthetic</a:t>
            </a:r>
            <a:r>
              <a:rPr lang="it-IT" dirty="0"/>
              <a:t> and </a:t>
            </a:r>
            <a:r>
              <a:rPr lang="it-IT" dirty="0" err="1"/>
              <a:t>real</a:t>
            </a:r>
            <a:r>
              <a:rPr lang="it-IT" dirty="0"/>
              <a:t> datasets with </a:t>
            </a:r>
          </a:p>
          <a:p>
            <a:pPr lvl="1"/>
            <a:r>
              <a:rPr lang="it-IT" dirty="0"/>
              <a:t>Code </a:t>
            </a:r>
            <a:r>
              <a:rPr lang="it-IT" dirty="0" err="1"/>
              <a:t>implementing</a:t>
            </a:r>
            <a:r>
              <a:rPr lang="it-IT" dirty="0"/>
              <a:t> </a:t>
            </a:r>
            <a:r>
              <a:rPr lang="it-IT" dirty="0" err="1"/>
              <a:t>simplest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(</a:t>
            </a:r>
            <a:r>
              <a:rPr lang="it-IT" dirty="0" err="1"/>
              <a:t>Lambertian</a:t>
            </a:r>
            <a:r>
              <a:rPr lang="it-IT" dirty="0"/>
              <a:t>)</a:t>
            </a:r>
          </a:p>
          <a:p>
            <a:pPr lvl="1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A60EF5-87CC-C7A5-FE95-BE6EA40C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1AF0B-466D-4DAA-8E53-9ADE31FAD6ED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7E6744-4F61-A56D-3289-F06C97E4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BCD15A-E482-FFB1-A43D-77FDFC6D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28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458C8ED-646B-9975-30C1-4C5B6904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Multi-Light Image </a:t>
            </a:r>
            <a:r>
              <a:rPr lang="it-IT" dirty="0" err="1"/>
              <a:t>Capture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9DDD3F02-93FB-E917-5EA2-7868292FC4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7118" y="1681163"/>
            <a:ext cx="5946051" cy="4989512"/>
          </a:xfrm>
        </p:spPr>
      </p:pic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98504ED-BFBC-228E-62A9-70058D3F64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Calibrated: known light</a:t>
            </a:r>
          </a:p>
          <a:p>
            <a:r>
              <a:rPr lang="en-US" dirty="0"/>
              <a:t>Not obvious: which light model can we use?</a:t>
            </a:r>
          </a:p>
          <a:p>
            <a:pPr lvl="1"/>
            <a:r>
              <a:rPr lang="en-US" dirty="0"/>
              <a:t>In the practice we often (not correct) use a directional or point light model and estimate the related parameters (direction/position)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FAB1B6-5420-A9E3-AA52-6454DB87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28AE-345D-4A53-A9E8-75FFE6CA9806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76DE56-B265-1EDA-D0F9-D008B962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DDE8A-6C97-77A2-1C8B-1C3C9F5B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894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5783916-7E6F-A44F-9F55-FC781C0D2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583" y="1248242"/>
            <a:ext cx="9390981" cy="592968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07D7254-EA55-AF62-8694-BCEF6219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Lambertian</a:t>
            </a:r>
            <a:r>
              <a:rPr lang="it-IT" dirty="0"/>
              <a:t> </a:t>
            </a:r>
            <a:r>
              <a:rPr lang="it-IT" dirty="0" err="1"/>
              <a:t>photometric</a:t>
            </a:r>
            <a:r>
              <a:rPr lang="it-IT" dirty="0"/>
              <a:t> stereo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A78A29-840E-3713-B710-BD0EF55F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95" y="3275780"/>
            <a:ext cx="4121467" cy="3395019"/>
          </a:xfrm>
        </p:spPr>
        <p:txBody>
          <a:bodyPr/>
          <a:lstStyle/>
          <a:p>
            <a:r>
              <a:rPr lang="it-IT" dirty="0"/>
              <a:t>Simple technique </a:t>
            </a:r>
            <a:r>
              <a:rPr lang="it-IT" dirty="0" err="1"/>
              <a:t>but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Calibration</a:t>
            </a:r>
            <a:r>
              <a:rPr lang="it-IT" dirty="0"/>
              <a:t>? How to know light </a:t>
            </a:r>
            <a:r>
              <a:rPr lang="it-IT" dirty="0" err="1"/>
              <a:t>directions</a:t>
            </a:r>
            <a:r>
              <a:rPr lang="it-IT" dirty="0"/>
              <a:t>?</a:t>
            </a:r>
          </a:p>
          <a:p>
            <a:pPr lvl="1"/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Lambertian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How to </a:t>
            </a:r>
            <a:r>
              <a:rPr lang="it-IT" dirty="0" err="1"/>
              <a:t>convert</a:t>
            </a:r>
            <a:r>
              <a:rPr lang="it-IT" dirty="0"/>
              <a:t> </a:t>
            </a:r>
            <a:r>
              <a:rPr lang="it-IT" dirty="0" err="1"/>
              <a:t>normals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depth</a:t>
            </a:r>
            <a:r>
              <a:rPr lang="it-IT" dirty="0"/>
              <a:t> </a:t>
            </a:r>
            <a:r>
              <a:rPr lang="it-IT" dirty="0" err="1"/>
              <a:t>maps</a:t>
            </a:r>
            <a:r>
              <a:rPr lang="it-IT" dirty="0"/>
              <a:t>?</a:t>
            </a:r>
          </a:p>
          <a:p>
            <a:pPr lvl="2"/>
            <a:r>
              <a:rPr lang="it-IT" dirty="0" err="1"/>
              <a:t>Need</a:t>
            </a:r>
            <a:r>
              <a:rPr lang="it-IT" dirty="0"/>
              <a:t> to integrate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EFA3CD-F25A-3ADB-75F1-6644EC46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5AE13-AE56-4131-83A4-C7D847B0EAD5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01D4B-C1CA-A1A3-0078-24FE250C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8388BA-9E68-DDFD-70C5-9DE520AB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059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B9CAD-5934-37AA-0F3A-432403C4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code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FB5461-827D-028A-7C3B-F3AAE523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Run</a:t>
            </a:r>
            <a:r>
              <a:rPr lang="it-IT" dirty="0"/>
              <a:t> the </a:t>
            </a:r>
            <a:r>
              <a:rPr lang="it-IT" dirty="0" err="1"/>
              <a:t>example</a:t>
            </a:r>
            <a:r>
              <a:rPr lang="it-IT" dirty="0"/>
              <a:t> code: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shows the </a:t>
            </a:r>
            <a:r>
              <a:rPr lang="it-IT" dirty="0" err="1"/>
              <a:t>normal</a:t>
            </a:r>
            <a:r>
              <a:rPr lang="it-IT" dirty="0"/>
              <a:t> </a:t>
            </a:r>
            <a:r>
              <a:rPr lang="it-IT" dirty="0" err="1"/>
              <a:t>map</a:t>
            </a:r>
            <a:r>
              <a:rPr lang="it-IT" dirty="0"/>
              <a:t> </a:t>
            </a:r>
            <a:r>
              <a:rPr lang="it-IT" dirty="0" err="1"/>
              <a:t>estimated</a:t>
            </a:r>
            <a:r>
              <a:rPr lang="it-IT" dirty="0"/>
              <a:t> with the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and the </a:t>
            </a:r>
            <a:r>
              <a:rPr lang="it-IT" dirty="0" err="1"/>
              <a:t>corresponding</a:t>
            </a:r>
            <a:r>
              <a:rPr lang="it-IT" dirty="0"/>
              <a:t> ground truth for the </a:t>
            </a:r>
            <a:r>
              <a:rPr lang="it-IT" dirty="0" err="1"/>
              <a:t>synthetic</a:t>
            </a:r>
            <a:r>
              <a:rPr lang="it-IT" dirty="0"/>
              <a:t> data</a:t>
            </a:r>
          </a:p>
          <a:p>
            <a:pPr lvl="2"/>
            <a:r>
              <a:rPr lang="it-IT" dirty="0"/>
              <a:t>Are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?</a:t>
            </a:r>
          </a:p>
          <a:p>
            <a:pPr lvl="2"/>
            <a:r>
              <a:rPr lang="it-IT" dirty="0"/>
              <a:t>How can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assess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quantitavely</a:t>
            </a:r>
            <a:endParaRPr lang="it-IT" dirty="0"/>
          </a:p>
          <a:p>
            <a:pPr lvl="2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test with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materials</a:t>
            </a:r>
            <a:r>
              <a:rPr lang="it-IT" dirty="0"/>
              <a:t>? </a:t>
            </a:r>
          </a:p>
          <a:p>
            <a:pPr lvl="2"/>
            <a:r>
              <a:rPr lang="it-IT" dirty="0"/>
              <a:t>How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improve</a:t>
            </a:r>
            <a:r>
              <a:rPr lang="it-IT" dirty="0"/>
              <a:t> the </a:t>
            </a:r>
            <a:r>
              <a:rPr lang="it-IT" dirty="0" err="1"/>
              <a:t>result</a:t>
            </a:r>
            <a:r>
              <a:rPr lang="it-IT" dirty="0"/>
              <a:t>?</a:t>
            </a:r>
          </a:p>
          <a:p>
            <a:pPr lvl="1"/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includes</a:t>
            </a:r>
            <a:r>
              <a:rPr lang="it-IT" dirty="0"/>
              <a:t> a </a:t>
            </a:r>
            <a:r>
              <a:rPr lang="it-IT" dirty="0" err="1"/>
              <a:t>tentative</a:t>
            </a:r>
            <a:r>
              <a:rPr lang="it-IT" dirty="0"/>
              <a:t> </a:t>
            </a:r>
            <a:r>
              <a:rPr lang="it-IT" dirty="0" err="1"/>
              <a:t>normal</a:t>
            </a:r>
            <a:r>
              <a:rPr lang="it-IT" dirty="0"/>
              <a:t> </a:t>
            </a:r>
            <a:r>
              <a:rPr lang="it-IT" dirty="0" err="1"/>
              <a:t>integration</a:t>
            </a:r>
            <a:r>
              <a:rPr lang="it-IT" dirty="0"/>
              <a:t> to </a:t>
            </a:r>
            <a:r>
              <a:rPr lang="it-IT" dirty="0" err="1"/>
              <a:t>obtain</a:t>
            </a:r>
            <a:r>
              <a:rPr lang="it-IT" dirty="0"/>
              <a:t> </a:t>
            </a:r>
            <a:r>
              <a:rPr lang="it-IT" dirty="0" err="1"/>
              <a:t>depth</a:t>
            </a:r>
            <a:endParaRPr lang="it-IT" dirty="0"/>
          </a:p>
          <a:p>
            <a:pPr lvl="2"/>
            <a:r>
              <a:rPr lang="it-IT" dirty="0"/>
              <a:t>Not </a:t>
            </a:r>
            <a:r>
              <a:rPr lang="it-IT" dirty="0" err="1"/>
              <a:t>too</a:t>
            </a:r>
            <a:r>
              <a:rPr lang="it-IT" dirty="0"/>
              <a:t> accurate. </a:t>
            </a:r>
            <a:r>
              <a:rPr lang="it-IT" dirty="0" err="1"/>
              <a:t>Why</a:t>
            </a:r>
            <a:r>
              <a:rPr lang="it-IT" dirty="0"/>
              <a:t>?</a:t>
            </a:r>
          </a:p>
          <a:p>
            <a:pPr lvl="2"/>
            <a:r>
              <a:rPr lang="it-IT" dirty="0"/>
              <a:t>Better </a:t>
            </a:r>
            <a:r>
              <a:rPr lang="it-IT" dirty="0" err="1"/>
              <a:t>methods</a:t>
            </a:r>
            <a:r>
              <a:rPr lang="it-IT" dirty="0"/>
              <a:t> are </a:t>
            </a:r>
            <a:r>
              <a:rPr lang="it-IT" dirty="0" err="1"/>
              <a:t>available</a:t>
            </a:r>
            <a:r>
              <a:rPr lang="it-IT" dirty="0"/>
              <a:t> in </a:t>
            </a:r>
            <a:r>
              <a:rPr lang="it-IT"/>
              <a:t>the literatur</a:t>
            </a:r>
            <a:r>
              <a:rPr lang="it-IT" dirty="0"/>
              <a:t>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0DB31E-310C-8B93-D899-11F9D582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C0580-12A5-4847-A685-4A23E91A6091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250723-22F7-485F-60DF-7EB03AFD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CCE98C-2C8D-973C-23D8-3E984873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825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D552E6-61D8-99FF-813A-05EA31D1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improvements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37C7A7-79CB-D4B6-A616-6C1D20886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Trimming</a:t>
            </a:r>
            <a:r>
              <a:rPr lang="it-IT" dirty="0"/>
              <a:t>: </a:t>
            </a:r>
            <a:r>
              <a:rPr lang="it-IT" dirty="0" err="1"/>
              <a:t>remove</a:t>
            </a:r>
            <a:r>
              <a:rPr lang="it-IT" dirty="0"/>
              <a:t> highlights/</a:t>
            </a:r>
            <a:r>
              <a:rPr lang="it-IT" dirty="0" err="1"/>
              <a:t>shadows</a:t>
            </a:r>
            <a:r>
              <a:rPr lang="it-IT" dirty="0"/>
              <a:t> from the </a:t>
            </a:r>
            <a:r>
              <a:rPr lang="it-IT" dirty="0" err="1"/>
              <a:t>estimation</a:t>
            </a:r>
            <a:endParaRPr lang="it-IT" dirty="0"/>
          </a:p>
          <a:p>
            <a:r>
              <a:rPr lang="it-IT" dirty="0"/>
              <a:t>Separate color </a:t>
            </a:r>
            <a:r>
              <a:rPr lang="it-IT" dirty="0" err="1"/>
              <a:t>channels</a:t>
            </a:r>
            <a:endParaRPr lang="it-IT" dirty="0"/>
          </a:p>
          <a:p>
            <a:r>
              <a:rPr lang="it-IT" dirty="0" err="1"/>
              <a:t>Robust</a:t>
            </a:r>
            <a:r>
              <a:rPr lang="it-IT" dirty="0"/>
              <a:t> fitting:</a:t>
            </a:r>
          </a:p>
          <a:p>
            <a:pPr lvl="1"/>
            <a:r>
              <a:rPr lang="it-IT" dirty="0"/>
              <a:t>Use </a:t>
            </a:r>
            <a:r>
              <a:rPr lang="it-IT" dirty="0" err="1"/>
              <a:t>robust</a:t>
            </a:r>
            <a:r>
              <a:rPr lang="it-IT" dirty="0"/>
              <a:t> kernels</a:t>
            </a:r>
          </a:p>
          <a:p>
            <a:pPr lvl="1"/>
            <a:r>
              <a:rPr lang="it-IT" dirty="0"/>
              <a:t>Use </a:t>
            </a:r>
            <a:r>
              <a:rPr lang="it-IT" dirty="0" err="1"/>
              <a:t>Iteratively</a:t>
            </a:r>
            <a:r>
              <a:rPr lang="it-IT" dirty="0"/>
              <a:t> </a:t>
            </a:r>
            <a:r>
              <a:rPr lang="it-IT" dirty="0" err="1"/>
              <a:t>Reweighted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Squares</a:t>
            </a:r>
            <a:r>
              <a:rPr lang="it-IT" dirty="0"/>
              <a:t> or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lang="it-IT" dirty="0"/>
          </a:p>
          <a:p>
            <a:pPr lvl="2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6BA015-39F2-AC87-1BCC-A0BBEF15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669F-9A55-4066-8A2D-D87B335D4BD0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F692CA-D4BD-7023-756B-3C3A9AB4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ED6E34-64A1-FFF7-AB82-7BF55AB6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226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3C0F1C-749E-87C6-1899-DD324AA42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Homework</a:t>
            </a:r>
            <a:r>
              <a:rPr lang="it-IT" dirty="0"/>
              <a:t>: </a:t>
            </a:r>
            <a:r>
              <a:rPr lang="it-IT" dirty="0" err="1"/>
              <a:t>modify</a:t>
            </a:r>
            <a:r>
              <a:rPr lang="it-IT" dirty="0"/>
              <a:t>/</a:t>
            </a:r>
            <a:r>
              <a:rPr lang="it-IT" dirty="0" err="1"/>
              <a:t>evaluate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8E546C-AF5A-58E1-C34B-9758F518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Estimate the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angular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estimated</a:t>
            </a:r>
            <a:r>
              <a:rPr lang="it-IT" dirty="0"/>
              <a:t> and </a:t>
            </a:r>
            <a:r>
              <a:rPr lang="it-IT" dirty="0" err="1"/>
              <a:t>true</a:t>
            </a:r>
            <a:r>
              <a:rPr lang="it-IT" dirty="0"/>
              <a:t> </a:t>
            </a:r>
            <a:r>
              <a:rPr lang="it-IT" dirty="0" err="1"/>
              <a:t>normals</a:t>
            </a:r>
            <a:endParaRPr lang="it-IT" dirty="0"/>
          </a:p>
          <a:p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average</a:t>
            </a:r>
            <a:r>
              <a:rPr lang="it-IT" dirty="0"/>
              <a:t> </a:t>
            </a:r>
            <a:r>
              <a:rPr lang="it-IT" dirty="0" err="1"/>
              <a:t>errors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materials</a:t>
            </a:r>
            <a:r>
              <a:rPr lang="it-IT" dirty="0"/>
              <a:t> and the overall </a:t>
            </a:r>
            <a:r>
              <a:rPr lang="it-IT" dirty="0" err="1"/>
              <a:t>mean</a:t>
            </a:r>
            <a:endParaRPr lang="it-IT" dirty="0"/>
          </a:p>
          <a:p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improve</a:t>
            </a:r>
            <a:r>
              <a:rPr lang="it-IT" dirty="0"/>
              <a:t> the </a:t>
            </a:r>
            <a:r>
              <a:rPr lang="it-IT" dirty="0" err="1"/>
              <a:t>results</a:t>
            </a:r>
            <a:r>
              <a:rPr lang="it-IT" dirty="0"/>
              <a:t> and </a:t>
            </a:r>
            <a:r>
              <a:rPr lang="it-IT" dirty="0" err="1"/>
              <a:t>submit</a:t>
            </a:r>
            <a:r>
              <a:rPr lang="it-IT" dirty="0"/>
              <a:t> code/report with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387A10-4229-F052-104E-B9621FE5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CED8-2166-44A7-A55E-8DEDB74E8DCF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592D46-AB24-470B-6022-BF1E78FD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DD1852-951F-7951-ECAB-E732815B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039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044B1-6ACE-7213-EB54-7BD46E08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Reflectance</a:t>
            </a:r>
            <a:r>
              <a:rPr lang="it-IT" dirty="0"/>
              <a:t> </a:t>
            </a:r>
            <a:r>
              <a:rPr lang="it-IT" dirty="0" err="1"/>
              <a:t>Transformation</a:t>
            </a:r>
            <a:r>
              <a:rPr lang="it-IT" dirty="0"/>
              <a:t> Imaging</a:t>
            </a:r>
          </a:p>
        </p:txBody>
      </p:sp>
      <p:pic>
        <p:nvPicPr>
          <p:cNvPr id="3" name="spieRTIvideo">
            <a:hlinkClick r:id="" action="ppaction://media"/>
            <a:extLst>
              <a:ext uri="{FF2B5EF4-FFF2-40B4-BE49-F238E27FC236}">
                <a16:creationId xmlns:a16="http://schemas.microsoft.com/office/drawing/2014/main" id="{9783C140-D031-B0F5-2386-D743783872D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0338" y="1681163"/>
            <a:ext cx="10579100" cy="4989512"/>
          </a:xfrm>
        </p:spPr>
      </p:pic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EE1C09-92F7-FFEE-5D78-10E92B24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4018-0564-4B07-B3C7-35A0702720B8}" type="datetime1">
              <a:rPr lang="it-IT" smtClean="0"/>
              <a:t>07/04/2026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99A6E18-200B-42C4-6274-D08F1191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CAD3E0-1063-3F7A-0A57-25C14032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8BD1-7A9B-4461-A385-B543F4733070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642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790D2C-A3C1-F9F7-4CEA-5D81A29B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Potential</a:t>
            </a:r>
            <a:r>
              <a:rPr lang="it-IT" dirty="0"/>
              <a:t> </a:t>
            </a:r>
            <a:r>
              <a:rPr lang="it-IT" dirty="0" err="1"/>
              <a:t>theses</a:t>
            </a:r>
            <a:r>
              <a:rPr lang="it-IT" dirty="0"/>
              <a:t>/internships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5B97B4-4BDE-0486-C571-33E91A92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Tests</a:t>
            </a:r>
            <a:r>
              <a:rPr lang="it-IT" dirty="0"/>
              <a:t> with </a:t>
            </a:r>
            <a:r>
              <a:rPr lang="it-IT" dirty="0" err="1"/>
              <a:t>novel</a:t>
            </a:r>
            <a:r>
              <a:rPr lang="it-IT" dirty="0"/>
              <a:t> data/</a:t>
            </a:r>
            <a:r>
              <a:rPr lang="it-IT" dirty="0" err="1"/>
              <a:t>polarized</a:t>
            </a:r>
            <a:r>
              <a:rPr lang="it-IT" dirty="0"/>
              <a:t> </a:t>
            </a:r>
            <a:r>
              <a:rPr lang="it-IT" dirty="0" err="1"/>
              <a:t>acquisitions</a:t>
            </a:r>
            <a:endParaRPr lang="it-IT" dirty="0"/>
          </a:p>
          <a:p>
            <a:r>
              <a:rPr lang="it-IT" dirty="0"/>
              <a:t>Inverse rendering tasks: </a:t>
            </a:r>
            <a:r>
              <a:rPr lang="it-IT" dirty="0" err="1"/>
              <a:t>shape</a:t>
            </a:r>
            <a:r>
              <a:rPr lang="it-IT" dirty="0"/>
              <a:t>, </a:t>
            </a:r>
            <a:r>
              <a:rPr lang="it-IT" dirty="0" err="1"/>
              <a:t>depth</a:t>
            </a:r>
            <a:r>
              <a:rPr lang="it-IT" dirty="0"/>
              <a:t>, </a:t>
            </a:r>
            <a:r>
              <a:rPr lang="it-IT" dirty="0" err="1"/>
              <a:t>shadow</a:t>
            </a:r>
            <a:r>
              <a:rPr lang="it-IT" dirty="0"/>
              <a:t> </a:t>
            </a:r>
            <a:r>
              <a:rPr lang="it-IT" dirty="0" err="1"/>
              <a:t>estimation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FE8604-0D05-2BBC-2574-717B222A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A005E-DC8F-47FF-8729-05864262F74C}" type="datetime1">
              <a:rPr lang="it-IT" smtClean="0"/>
              <a:t>07/04/2026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6F5246-8C0A-978A-DCC8-7E2C20B4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274645-19D3-C51A-07EF-432A9B8E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022218"/>
      </p:ext>
    </p:extLst>
  </p:cSld>
  <p:clrMapOvr>
    <a:masterClrMapping/>
  </p:clrMapOvr>
</p:sld>
</file>

<file path=ppt/theme/theme1.xml><?xml version="1.0" encoding="utf-8"?>
<a:theme xmlns:a="http://schemas.openxmlformats.org/drawingml/2006/main" name="lez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4d3ab7-1470-4128-9622-ec1cbb31ed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5592A4ADA142965D394470E5BDCC" ma:contentTypeVersion="18" ma:contentTypeDescription="Creare un nuovo documento." ma:contentTypeScope="" ma:versionID="16c1fc67e0964c4d38efecdd28d8fa2f">
  <xsd:schema xmlns:xsd="http://www.w3.org/2001/XMLSchema" xmlns:xs="http://www.w3.org/2001/XMLSchema" xmlns:p="http://schemas.microsoft.com/office/2006/metadata/properties" xmlns:ns3="6b4d3ab7-1470-4128-9622-ec1cbb31ed76" xmlns:ns4="6e7c07e5-4464-4a81-82bd-bfb2b8f1e56b" targetNamespace="http://schemas.microsoft.com/office/2006/metadata/properties" ma:root="true" ma:fieldsID="2aaf83fee18be6c0bc1d39586c11fdee" ns3:_="" ns4:_="">
    <xsd:import namespace="6b4d3ab7-1470-4128-9622-ec1cbb31ed76"/>
    <xsd:import namespace="6e7c07e5-4464-4a81-82bd-bfb2b8f1e5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d3ab7-1470-4128-9622-ec1cbb31e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c07e5-4464-4a81-82bd-bfb2b8f1e56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FB213B-1BC7-44D2-A873-8D8A7D7FD452}">
  <ds:schemaRefs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6b4d3ab7-1470-4128-9622-ec1cbb31ed76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6e7c07e5-4464-4a81-82bd-bfb2b8f1e56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987F9D8-BB39-4B50-9844-B26F81374B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6590C2-FA63-4781-AFEF-83BE3357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4d3ab7-1470-4128-9622-ec1cbb31ed76"/>
    <ds:schemaRef ds:uri="6e7c07e5-4464-4a81-82bd-bfb2b8f1e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38157</TotalTime>
  <Words>348</Words>
  <Application>Microsoft Office PowerPoint</Application>
  <PresentationFormat>Personalizzato</PresentationFormat>
  <Paragraphs>72</Paragraphs>
  <Slides>9</Slides>
  <Notes>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20" baseType="lpstr">
      <vt:lpstr>Verdana</vt:lpstr>
      <vt:lpstr>Arial</vt:lpstr>
      <vt:lpstr>Qlassik Bold</vt:lpstr>
      <vt:lpstr>Qlassik Medium</vt:lpstr>
      <vt:lpstr>Abadi</vt:lpstr>
      <vt:lpstr>Rockwell</vt:lpstr>
      <vt:lpstr>Sketch Block</vt:lpstr>
      <vt:lpstr>StarSymbol</vt:lpstr>
      <vt:lpstr>Calibri</vt:lpstr>
      <vt:lpstr>Symbol</vt:lpstr>
      <vt:lpstr>lez11</vt:lpstr>
      <vt:lpstr>Advanced Visual Computing  (Digital Design)</vt:lpstr>
      <vt:lpstr>Photometric Stereo</vt:lpstr>
      <vt:lpstr>Multi-Light Image Capture</vt:lpstr>
      <vt:lpstr>Lambertian photometric stereo</vt:lpstr>
      <vt:lpstr>Example code</vt:lpstr>
      <vt:lpstr>Possible improvements </vt:lpstr>
      <vt:lpstr>Homework: modify/evaluate</vt:lpstr>
      <vt:lpstr>Reflectance Transformation Imaging</vt:lpstr>
      <vt:lpstr>Potential theses/internships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 - Interazione Uomo Macchina</dc:title>
  <dc:creator>andrea giachetti</dc:creator>
  <cp:lastModifiedBy>Andrea Giachetti</cp:lastModifiedBy>
  <cp:revision>762</cp:revision>
  <cp:lastPrinted>2020-03-10T15:42:29Z</cp:lastPrinted>
  <dcterms:created xsi:type="dcterms:W3CDTF">2007-04-16T16:52:06Z</dcterms:created>
  <dcterms:modified xsi:type="dcterms:W3CDTF">2026-04-07T07:20:20Z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ContentTypeId">
    <vt:lpwstr>0x010100BB3F5592A4ADA142965D394470E5BDCC</vt:lpwstr>
  </property>
</Properties>
</file>