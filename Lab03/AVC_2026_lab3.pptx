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351" r:id="rId5"/>
    <p:sldId id="357" r:id="rId6"/>
    <p:sldId id="363" r:id="rId7"/>
    <p:sldId id="372" r:id="rId8"/>
    <p:sldId id="364" r:id="rId9"/>
    <p:sldId id="365" r:id="rId10"/>
    <p:sldId id="366" r:id="rId11"/>
    <p:sldId id="367" r:id="rId12"/>
    <p:sldId id="368" r:id="rId13"/>
    <p:sldId id="369" r:id="rId14"/>
    <p:sldId id="361" r:id="rId15"/>
  </p:sldIdLst>
  <p:sldSz cx="13439775" cy="7559675"/>
  <p:notesSz cx="7104063" cy="10234613"/>
  <p:embeddedFontLst>
    <p:embeddedFont>
      <p:font typeface="Abadi" panose="020B0604020104020204" pitchFamily="34" charset="0"/>
      <p:regular r:id="rId18"/>
      <p:bold r:id="rId19"/>
      <p:italic r:id="rId20"/>
      <p:boldItalic r:id="rId21"/>
    </p:embeddedFont>
    <p:embeddedFont>
      <p:font typeface="Qlassik Bold" panose="05070000000000000000" pitchFamily="18" charset="0"/>
      <p:bold r:id="rId22"/>
    </p:embeddedFont>
    <p:embeddedFont>
      <p:font typeface="Qlassik Medium" panose="05070000000000000000" pitchFamily="18" charset="0"/>
      <p:regular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  <p:embeddedFont>
      <p:font typeface="Sketch Block" panose="02000000000000000000" pitchFamily="2" charset="0"/>
      <p:regular r:id="rId28"/>
    </p:embeddedFont>
    <p:embeddedFont>
      <p:font typeface="StarSymbol" panose="05000000000000000000" pitchFamily="2" charset="0"/>
      <p:regular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CF162-1D6C-42ED-80A8-64795B856348}" v="1" dt="2024-04-07T06:18:56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8032" autoAdjust="0"/>
  </p:normalViewPr>
  <p:slideViewPr>
    <p:cSldViewPr>
      <p:cViewPr varScale="1">
        <p:scale>
          <a:sx n="66" d="100"/>
          <a:sy n="66" d="100"/>
        </p:scale>
        <p:origin x="393" y="51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3802" y="1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4021162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algn="r"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021162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algn="r" hangingPunct="0">
              <a:defRPr sz="1400"/>
            </a:pPr>
            <a:fld id="{E74C1C3F-7EE1-4583-9610-50D269EDCB3D}" type="slidenum">
              <a:pPr algn="r" hangingPunct="0">
                <a:defRPr sz="1400"/>
              </a:pPr>
              <a:t>‹N›</a:t>
            </a:fld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76607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7104368" cy="10234792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2746" rIns="85491" bIns="42746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Figura a mano libera 2"/>
          <p:cNvSpPr/>
          <p:nvPr/>
        </p:nvSpPr>
        <p:spPr>
          <a:xfrm>
            <a:off x="0" y="0"/>
            <a:ext cx="7105045" cy="10236170"/>
          </a:xfrm>
          <a:custGeom>
            <a:avLst>
              <a:gd name="f0" fmla="val 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4455" rIns="85491" bIns="44455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5643225" y="-7366000"/>
            <a:ext cx="31288038" cy="17600613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egnaposto note 4"/>
          <p:cNvSpPr txBox="1">
            <a:spLocks noGrp="1"/>
          </p:cNvSpPr>
          <p:nvPr>
            <p:ph type="body" sz="quarter" idx="3"/>
          </p:nvPr>
        </p:nvSpPr>
        <p:spPr>
          <a:xfrm>
            <a:off x="709422" y="4861699"/>
            <a:ext cx="5681465" cy="46049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65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it-IT" sz="2000" b="0" i="0" u="none" strike="noStrike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32426"/>
          </a:xfrm>
        </p:spPr>
        <p:txBody>
          <a:bodyPr>
            <a:spAutoFit/>
          </a:bodyPr>
          <a:lstStyle/>
          <a:p>
            <a:endParaRPr lang="it-IT" sz="2810" kern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6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07457" y="2347918"/>
            <a:ext cx="11424867" cy="1620837"/>
          </a:xfrm>
        </p:spPr>
        <p:txBody>
          <a:bodyPr/>
          <a:lstStyle>
            <a:lvl1pPr>
              <a:buFontTx/>
              <a:buNone/>
              <a:defRPr sz="66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017027" y="4283075"/>
            <a:ext cx="9407842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0DF9979-574D-4FCB-BD6E-599E7841CFDD}" type="datetime1">
              <a:rPr lang="it-IT" smtClean="0"/>
              <a:t>27/03/2026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55BC8DA-C10C-404D-8B72-5A3EDF8878D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82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41D7EFB-AC36-469E-832F-6A302A734BC9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B04B791-897E-4328-B3FD-2D81E4AD606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94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2483" y="4857755"/>
            <a:ext cx="11422751" cy="1501775"/>
          </a:xfrm>
        </p:spPr>
        <p:txBody>
          <a:bodyPr anchor="t"/>
          <a:lstStyle>
            <a:lvl1pPr algn="l">
              <a:buFontTx/>
              <a:buNone/>
              <a:defRPr sz="5400" b="1" cap="all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2483" y="3203577"/>
            <a:ext cx="11422751" cy="1654175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53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1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815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69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72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6EF4E2F-09BC-4893-B59F-E09FEB593DFF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4CF43EEC-617B-4860-93DC-558AFDA2912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985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2040" y="1681163"/>
            <a:ext cx="6216160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7001383" y="1681163"/>
            <a:ext cx="5855366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4134BDA-DF45-40F9-B864-B60A86A21FB3}" type="datetime1">
              <a:rPr lang="it-IT" smtClean="0"/>
              <a:t>27/03/2026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F158BD1-7A9B-4461-A385-B543F473307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46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9" y="303218"/>
            <a:ext cx="12095798" cy="1258887"/>
          </a:xfrm>
        </p:spPr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3047" y="1692275"/>
            <a:ext cx="5936783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73047" y="2397125"/>
            <a:ext cx="5936783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827831" y="1692275"/>
            <a:ext cx="5941016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827831" y="2397125"/>
            <a:ext cx="5941016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913F321D-3C3A-45AD-A9A8-1162D6FB1A67}" type="datetime1">
              <a:rPr lang="it-IT" smtClean="0"/>
              <a:t>27/03/2026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A2F18FA-F34A-48B2-B8AB-ABDE98A2E6CA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77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D710AFC6-935C-4EDD-9E6E-FDBE53D01516}" type="datetime1">
              <a:rPr lang="it-IT" smtClean="0"/>
              <a:t>27/03/2026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C645D62E-CFA1-4826-879F-F4B5BC17AD5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26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9EED9603-7416-49ED-8BDE-9C1A07C0F751}" type="datetime1">
              <a:rPr lang="it-IT" smtClean="0"/>
              <a:t>27/03/2026</a:t>
            </a:fld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5A7C861E-D030-43FF-AC94-E2D5143DF10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7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7" y="301630"/>
            <a:ext cx="4421369" cy="127952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55273" y="301625"/>
            <a:ext cx="7513575" cy="6451600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73047" y="1581154"/>
            <a:ext cx="4421369" cy="5172075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678A060-68C4-490F-88AD-164C5D5E3657}" type="datetime1">
              <a:rPr lang="it-IT" smtClean="0"/>
              <a:t>27/03/2026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6B80B6E-A4D6-4411-B888-14C3E70F21A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90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635046" y="5291143"/>
            <a:ext cx="8063865" cy="62547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635046" y="674693"/>
            <a:ext cx="8063865" cy="4537075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635046" y="5916613"/>
            <a:ext cx="8063865" cy="887412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6547482-348D-459A-9C3D-CE48B5FD6840}" type="datetime1">
              <a:rPr lang="it-IT" smtClean="0"/>
              <a:t>27/03/2026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E76AA5-F148-42C4-A2A9-57D958F3988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07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3A092CB-4E8C-444E-AC2D-3EB23560EDE6}" type="datetime1">
              <a:rPr lang="it-IT" smtClean="0"/>
              <a:t>27/03/2026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1C91C-D157-48DC-9B11-DE3A292616F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32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10061841" y="122243"/>
            <a:ext cx="3157818" cy="654843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582038" y="122243"/>
            <a:ext cx="9276619" cy="654843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43846A-71D7-40C2-B978-3FE1541F8AA7}" type="datetime1">
              <a:rPr lang="it-IT" smtClean="0"/>
              <a:t>27/03/2026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1E018E-FCA6-4918-88A3-3822F9A4166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94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89" y="302737"/>
            <a:ext cx="12095798" cy="12599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71988" y="1763925"/>
            <a:ext cx="5935901" cy="4989036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1887" y="1763925"/>
            <a:ext cx="5935901" cy="4989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15EAB-5F24-4621-B5CB-23123A03CE81}" type="datetime1">
              <a:rPr lang="it-IT" smtClean="0"/>
              <a:t>27/03/2026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AVC 24/25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1D4BC3-C9B1-47AE-8C50-FA0E2EF8A16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5931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4976" y="73497"/>
            <a:ext cx="12255319" cy="826517"/>
          </a:xfrm>
          <a:prstGeom prst="rect">
            <a:avLst/>
          </a:prstGeom>
          <a:solidFill>
            <a:srgbClr val="185C72">
              <a:alpha val="60000"/>
            </a:srgbClr>
          </a:solidFill>
          <a:ln>
            <a:noFill/>
          </a:ln>
        </p:spPr>
        <p:txBody>
          <a:bodyPr anchor="ctr"/>
          <a:lstStyle>
            <a:lvl1pPr>
              <a:defRPr lang="de-CH" sz="3527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3743" y="1128241"/>
            <a:ext cx="12724038" cy="52024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03921" y="6709211"/>
            <a:ext cx="7661556" cy="755968"/>
          </a:xfrm>
          <a:prstGeom prst="rect">
            <a:avLst/>
          </a:prstGeom>
        </p:spPr>
        <p:txBody>
          <a:bodyPr anchor="ctr"/>
          <a:lstStyle>
            <a:lvl1pPr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CH"/>
              <a:t>AVC 24/25</a:t>
            </a:r>
            <a:endParaRPr lang="de-CH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65478" y="6709211"/>
            <a:ext cx="760409" cy="755968"/>
          </a:xfrm>
          <a:prstGeom prst="rect">
            <a:avLst/>
          </a:prstGeom>
        </p:spPr>
        <p:txBody>
          <a:bodyPr anchor="ctr"/>
          <a:lstStyle>
            <a:lvl1pPr algn="r"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B5F642D-6A31-4596-8C22-CC368C1BDF36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9909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671989" y="167993"/>
            <a:ext cx="12095798" cy="1343942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8259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2"/>
          <p:cNvSpPr txBox="1"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 dirty="0"/>
          </a:p>
        </p:txBody>
      </p:sp>
      <p:sp>
        <p:nvSpPr>
          <p:cNvPr id="4" name="Segnaposto testo 3"/>
          <p:cNvSpPr txBox="1">
            <a:spLocks noGrp="1"/>
          </p:cNvSpPr>
          <p:nvPr>
            <p:ph type="body" idx="1"/>
          </p:nvPr>
        </p:nvSpPr>
        <p:spPr>
          <a:xfrm>
            <a:off x="582196" y="1681200"/>
            <a:ext cx="12274555" cy="4989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None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defPPr>
            <a:lvl1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Char char="·"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1pPr>
            <a:lvl2pPr marL="864000" marR="0" lvl="1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579D1C"/>
              </a:buClr>
              <a:buSzPct val="85000"/>
              <a:buFont typeface="Symbol"/>
              <a:buChar char="·"/>
              <a:tabLst>
                <a:tab pos="18000" algn="l"/>
              </a:tabLst>
              <a:defRPr lang="it-IT" sz="28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2pPr>
            <a:lvl3pPr marL="1295999" marR="0" lvl="2" indent="-288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9999FF"/>
              </a:buClr>
              <a:buSzPct val="75000"/>
              <a:buFont typeface="Symbol"/>
              <a:buChar char="·"/>
              <a:tabLst>
                <a:tab pos="18000" algn="l"/>
              </a:tabLst>
              <a:defRPr lang="it-IT" sz="26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3pPr>
            <a:lvl4pPr marL="1728000" marR="0" lvl="3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70000"/>
              <a:buFont typeface="Symbol"/>
              <a:buChar char="·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4pPr>
            <a:lvl5pPr marL="2160000" marR="0" lvl="4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5pPr>
            <a:lvl6pPr marL="2592000" marR="0" lvl="5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6pPr>
            <a:lvl7pPr marL="3024000" marR="0" lvl="6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7pPr>
            <a:lvl8pPr marL="3456000" marR="0" lvl="7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8pPr>
            <a:lvl9pPr marL="3887999" marR="0" lvl="8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9pPr>
          </a:lstStyle>
          <a:p>
            <a:pPr lvl="0"/>
            <a:r>
              <a:rPr lang="it-IT" dirty="0"/>
              <a:t>Click to edit the outline text format</a:t>
            </a:r>
          </a:p>
          <a:p>
            <a:pPr lvl="1"/>
            <a:r>
              <a:rPr lang="it-IT" dirty="0"/>
              <a:t>Second Outline Level</a:t>
            </a:r>
          </a:p>
          <a:p>
            <a:pPr lvl="2"/>
            <a:r>
              <a:rPr lang="it-IT" dirty="0"/>
              <a:t>Third Outline Level</a:t>
            </a:r>
          </a:p>
          <a:p>
            <a:pPr lvl="3"/>
            <a:r>
              <a:rPr lang="it-IT" dirty="0"/>
              <a:t>Fourth Outline Level</a:t>
            </a:r>
          </a:p>
          <a:p>
            <a:pPr lvl="4"/>
            <a:r>
              <a:rPr lang="it-IT" dirty="0"/>
              <a:t>Fifth Outline Level</a:t>
            </a:r>
          </a:p>
          <a:p>
            <a:pPr lvl="5"/>
            <a:r>
              <a:rPr lang="it-IT" dirty="0"/>
              <a:t>Sixth Outline Level</a:t>
            </a:r>
          </a:p>
          <a:p>
            <a:pPr lvl="6"/>
            <a:r>
              <a:rPr lang="it-IT" dirty="0"/>
              <a:t>Seventh Outline Level</a:t>
            </a:r>
          </a:p>
          <a:p>
            <a:pPr lvl="7"/>
            <a:r>
              <a:rPr lang="it-IT" dirty="0"/>
              <a:t>Eighth Outline Level</a:t>
            </a:r>
          </a:p>
          <a:p>
            <a:pPr lvl="8"/>
            <a:r>
              <a:rPr lang="it-IT" dirty="0"/>
              <a:t>Ninth Outline Level</a:t>
            </a:r>
          </a:p>
        </p:txBody>
      </p:sp>
      <p:sp>
        <p:nvSpPr>
          <p:cNvPr id="5" name="Segnaposto data 4"/>
          <p:cNvSpPr txBox="1">
            <a:spLocks noGrp="1"/>
          </p:cNvSpPr>
          <p:nvPr>
            <p:ph type="dt" sz="half" idx="2"/>
          </p:nvPr>
        </p:nvSpPr>
        <p:spPr>
          <a:xfrm>
            <a:off x="671946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BBFF5D7B-46A0-4BE9-9CCF-B972D8555FEA}" type="datetime1">
              <a:rPr lang="it-IT" smtClean="0"/>
              <a:t>27/03/2026</a:t>
            </a:fld>
            <a:endParaRPr lang="it-IT" dirty="0"/>
          </a:p>
        </p:txBody>
      </p:sp>
      <p:sp>
        <p:nvSpPr>
          <p:cNvPr id="6" name="Segnaposto piè di pagina 5"/>
          <p:cNvSpPr txBox="1">
            <a:spLocks noGrp="1"/>
          </p:cNvSpPr>
          <p:nvPr>
            <p:ph type="ftr" sz="quarter" idx="3"/>
          </p:nvPr>
        </p:nvSpPr>
        <p:spPr>
          <a:xfrm>
            <a:off x="4596118" y="7041605"/>
            <a:ext cx="4259665" cy="366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r>
              <a:rPr lang="it-IT"/>
              <a:t>AVC 24/25</a:t>
            </a:r>
            <a:endParaRPr lang="it-IT" dirty="0"/>
          </a:p>
        </p:txBody>
      </p:sp>
      <p:sp>
        <p:nvSpPr>
          <p:cNvPr id="7" name="Segnaposto numero diapositiva 6"/>
          <p:cNvSpPr txBox="1">
            <a:spLocks noGrp="1"/>
          </p:cNvSpPr>
          <p:nvPr>
            <p:ph type="sldNum" sz="quarter" idx="4"/>
          </p:nvPr>
        </p:nvSpPr>
        <p:spPr>
          <a:xfrm>
            <a:off x="9635721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C520E673-7DC9-43D6-AF14-D86C202CC653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52" y="0"/>
            <a:ext cx="13439423" cy="7559675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8BE3401-8D83-BC07-FBB8-F8C4D91C82E0}"/>
              </a:ext>
            </a:extLst>
          </p:cNvPr>
          <p:cNvSpPr/>
          <p:nvPr userDrawn="1"/>
        </p:nvSpPr>
        <p:spPr>
          <a:xfrm>
            <a:off x="0" y="0"/>
            <a:ext cx="1967359" cy="1979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oscurità, Policromia, schermata&#10;&#10;Descrizione generata automaticamente">
            <a:extLst>
              <a:ext uri="{FF2B5EF4-FFF2-40B4-BE49-F238E27FC236}">
                <a16:creationId xmlns:a16="http://schemas.microsoft.com/office/drawing/2014/main" id="{B06A1663-E8F1-30C8-90E8-766907D708E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1" y="183926"/>
            <a:ext cx="3443583" cy="4275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/>
  <p:txStyles>
    <p:titleStyle>
      <a:lvl1pPr algn="ctr" rtl="0" hangingPunct="0">
        <a:buFontTx/>
        <a:buNone/>
        <a:tabLst/>
        <a:defRPr lang="it-IT" sz="7199" b="1" i="0" u="none" strike="noStrike" kern="1200">
          <a:ln>
            <a:noFill/>
          </a:ln>
          <a:solidFill>
            <a:srgbClr val="800000"/>
          </a:solidFill>
          <a:latin typeface="Qlassik Bold" pitchFamily="2"/>
        </a:defRPr>
      </a:lvl1pPr>
    </p:titleStyle>
    <p:bodyStyle>
      <a:lvl1pPr lvl="0">
        <a:buClr>
          <a:srgbClr val="800000"/>
        </a:buClr>
        <a:buSzPct val="9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1pPr>
      <a:lvl2pPr lvl="1">
        <a:buClr>
          <a:srgbClr val="579D1C"/>
        </a:buClr>
        <a:buSzPct val="8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2pPr>
      <a:lvl3pPr lvl="2">
        <a:buClr>
          <a:srgbClr val="9999FF"/>
        </a:buClr>
        <a:buSzPct val="7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3pPr>
      <a:lvl4pPr lvl="3">
        <a:buSzPct val="70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4pPr>
      <a:lvl5pPr lvl="4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5pPr>
      <a:lvl6pPr lvl="5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6pPr>
      <a:lvl7pPr lvl="6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7pPr>
      <a:lvl8pPr lvl="7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8pPr>
      <a:lvl9pPr lvl="8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a.giachetti@univr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3d.org/docs/latest/tutorial/pipelines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it-IT" dirty="0"/>
              <a:t>Advanced Visual Computing 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731" y="4450768"/>
            <a:ext cx="10415296" cy="2575781"/>
          </a:xfrm>
        </p:spPr>
        <p:txBody>
          <a:bodyPr/>
          <a:lstStyle/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Lab 3: point clouds processing and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registration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Andrea Giachetti University of Verona, Italy</a:t>
            </a:r>
            <a:b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  <a:hlinkClick r:id="rId3"/>
              </a:rPr>
              <a:t>andrea.giachetti@univr.it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br>
              <a:rPr lang="it-IT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endParaRPr lang="it-IT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endParaRPr lang="it-IT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3830891-6604-4210-8522-088CA559AC82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it-IT"/>
              <a:t>AVC 24/25</a:t>
            </a:r>
            <a:endParaRPr lang="it-IT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35B84F-6186-40EE-8B7D-48376816C3AB}" type="slidenum">
              <a:rPr lang="it-IT" smtClean="0"/>
              <a:pPr lvl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55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28CBB-B99C-24DE-8905-9E501C6E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Open3D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FD1B42-B307-21AA-F839-6701E81D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Powerful library for 3d data processing</a:t>
            </a:r>
          </a:p>
          <a:p>
            <a:pPr lvl="1"/>
            <a:r>
              <a:rPr lang="en-US" dirty="0"/>
              <a:t>Can handle point clouds (another potential tool is </a:t>
            </a:r>
            <a:r>
              <a:rPr lang="en-US" dirty="0" err="1"/>
              <a:t>pcl</a:t>
            </a:r>
            <a:r>
              <a:rPr lang="en-US" dirty="0"/>
              <a:t>)</a:t>
            </a:r>
          </a:p>
          <a:p>
            <a:r>
              <a:rPr lang="en-US" dirty="0"/>
              <a:t>Let’s use in the python codes in the Lab3 archive </a:t>
            </a:r>
          </a:p>
          <a:p>
            <a:r>
              <a:rPr lang="en-US" dirty="0"/>
              <a:t>Documentation, tutorials and examples:</a:t>
            </a:r>
          </a:p>
          <a:p>
            <a:pPr lvl="1"/>
            <a:r>
              <a:rPr lang="en-US" dirty="0"/>
              <a:t>https://www.open3d.org/docs/latest/</a:t>
            </a:r>
          </a:p>
          <a:p>
            <a:r>
              <a:rPr lang="en-US" dirty="0"/>
              <a:t>We will focus on the registration pipelines</a:t>
            </a:r>
          </a:p>
          <a:p>
            <a:pPr lvl="1"/>
            <a:r>
              <a:rPr lang="en-US" dirty="0">
                <a:hlinkClick r:id="rId2"/>
              </a:rPr>
              <a:t>https://www.open3d.org/docs/latest/tutorial/pipelines/index.html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FF8641-2F13-2FCD-C99E-7BCBA356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677D-C9D7-4757-AC1C-9AA6E071CD66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307445-55FC-18DB-E2D8-8BA6246D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AA6E4D-4B6B-31AF-9185-1A2A265C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82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B4444E-DAFE-AECE-FBBE-A219512D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Depth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28D61C-CCA0-A5DC-03AC-A9F01F49B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Just to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depth</a:t>
            </a:r>
            <a:r>
              <a:rPr lang="it-IT" dirty="0"/>
              <a:t> images are </a:t>
            </a:r>
            <a:r>
              <a:rPr lang="it-IT" dirty="0" err="1"/>
              <a:t>encoded</a:t>
            </a:r>
            <a:endParaRPr lang="it-IT" dirty="0"/>
          </a:p>
          <a:p>
            <a:pPr lvl="1"/>
            <a:r>
              <a:rPr lang="it-IT" dirty="0" err="1"/>
              <a:t>introduction_rgbd</a:t>
            </a:r>
            <a:r>
              <a:rPr lang="it-IT" dirty="0"/>
              <a:t> shows a file </a:t>
            </a:r>
            <a:r>
              <a:rPr lang="it-IT" dirty="0" err="1"/>
              <a:t>captured</a:t>
            </a:r>
            <a:r>
              <a:rPr lang="it-IT" dirty="0"/>
              <a:t> from </a:t>
            </a:r>
            <a:r>
              <a:rPr lang="it-IT" dirty="0" err="1"/>
              <a:t>depth</a:t>
            </a:r>
            <a:r>
              <a:rPr lang="it-IT" dirty="0"/>
              <a:t> camera and the </a:t>
            </a:r>
            <a:r>
              <a:rPr lang="it-IT" dirty="0" err="1"/>
              <a:t>basic</a:t>
            </a:r>
            <a:r>
              <a:rPr lang="it-IT" dirty="0"/>
              <a:t> processing to </a:t>
            </a:r>
            <a:r>
              <a:rPr lang="it-IT" dirty="0" err="1"/>
              <a:t>visualize</a:t>
            </a:r>
            <a:r>
              <a:rPr lang="it-IT" dirty="0"/>
              <a:t> point clouds </a:t>
            </a:r>
            <a:r>
              <a:rPr lang="it-IT" dirty="0" err="1"/>
              <a:t>using</a:t>
            </a:r>
            <a:r>
              <a:rPr lang="it-IT" dirty="0"/>
              <a:t> Open3d</a:t>
            </a:r>
          </a:p>
          <a:p>
            <a:r>
              <a:rPr lang="en-US" dirty="0"/>
              <a:t>The RGB-D image is acquired with a </a:t>
            </a:r>
            <a:r>
              <a:rPr lang="en-US" dirty="0" err="1"/>
              <a:t>PrimeSenseCarmine</a:t>
            </a:r>
            <a:r>
              <a:rPr lang="en-US" dirty="0"/>
              <a:t> camera (old device)</a:t>
            </a:r>
          </a:p>
          <a:p>
            <a:pPr lvl="1"/>
            <a:r>
              <a:rPr lang="en-US" dirty="0"/>
              <a:t>The focal length is 525 for both axes (</a:t>
            </a:r>
            <a:r>
              <a:rPr lang="en-US" dirty="0" err="1"/>
              <a:t>fx</a:t>
            </a:r>
            <a:r>
              <a:rPr lang="en-US" dirty="0"/>
              <a:t>=525, </a:t>
            </a:r>
            <a:r>
              <a:rPr lang="en-US" dirty="0" err="1"/>
              <a:t>fy</a:t>
            </a:r>
            <a:r>
              <a:rPr lang="en-US" dirty="0"/>
              <a:t>=525)and the principal point is (cx =319.5,cy=239.5)</a:t>
            </a:r>
          </a:p>
          <a:p>
            <a:pPr lvl="1"/>
            <a:r>
              <a:rPr lang="en-US" dirty="0" err="1"/>
              <a:t>Rgb</a:t>
            </a:r>
            <a:r>
              <a:rPr lang="en-US" dirty="0"/>
              <a:t> and d are obviously already registered (but not all depths are valid)</a:t>
            </a:r>
          </a:p>
          <a:p>
            <a:pPr lvl="1"/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extract</a:t>
            </a:r>
            <a:r>
              <a:rPr lang="it-IT" dirty="0"/>
              <a:t> a mesh from the point cloud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in the stereo code 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dirty="0" err="1"/>
              <a:t>codes</a:t>
            </a:r>
            <a:r>
              <a:rPr lang="it-IT" dirty="0"/>
              <a:t>)</a:t>
            </a:r>
          </a:p>
          <a:p>
            <a:pPr marL="10800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C31A05-86B8-A6D8-CD5F-BA914FEF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B1AF7-47A6-49E1-8A3D-38B396A128C8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70A2FE-420B-C50E-40E4-729883B8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6D0C1D-CAEB-2566-64CA-1B8509A5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789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8C2E3-FAB9-4000-29A1-E50C2E69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Point cloud </a:t>
            </a:r>
            <a:r>
              <a:rPr lang="it-IT" dirty="0" err="1"/>
              <a:t>registration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BD7F3C-EF26-3471-8574-C923A73C1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Remember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Rigid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r>
              <a:rPr lang="it-IT" dirty="0"/>
              <a:t> 6DOF </a:t>
            </a:r>
            <a:r>
              <a:rPr lang="it-IT" dirty="0" err="1"/>
              <a:t>transform</a:t>
            </a:r>
            <a:r>
              <a:rPr lang="it-IT" dirty="0"/>
              <a:t> (</a:t>
            </a:r>
            <a:r>
              <a:rPr lang="it-IT" dirty="0" err="1"/>
              <a:t>translation+rotation</a:t>
            </a:r>
            <a:r>
              <a:rPr lang="it-IT" dirty="0"/>
              <a:t>)</a:t>
            </a:r>
          </a:p>
          <a:p>
            <a:pPr lvl="2"/>
            <a:r>
              <a:rPr lang="it-IT" dirty="0" err="1"/>
              <a:t>Optimization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to be </a:t>
            </a:r>
            <a:r>
              <a:rPr lang="it-IT" dirty="0" err="1"/>
              <a:t>solved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points </a:t>
            </a:r>
            <a:r>
              <a:rPr lang="it-IT" dirty="0" err="1"/>
              <a:t>correspondence</a:t>
            </a:r>
            <a:endParaRPr lang="it-IT" dirty="0"/>
          </a:p>
          <a:p>
            <a:pPr lvl="1"/>
            <a:r>
              <a:rPr lang="it-IT" dirty="0" err="1"/>
              <a:t>Typical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for </a:t>
            </a:r>
            <a:r>
              <a:rPr lang="it-IT" dirty="0" err="1"/>
              <a:t>pre-registered</a:t>
            </a:r>
            <a:r>
              <a:rPr lang="it-IT" dirty="0"/>
              <a:t> clouds (</a:t>
            </a:r>
            <a:r>
              <a:rPr lang="it-IT" dirty="0" err="1"/>
              <a:t>local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r>
              <a:rPr lang="it-IT" dirty="0"/>
              <a:t>): ICP</a:t>
            </a:r>
          </a:p>
          <a:p>
            <a:pPr lvl="2"/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variants</a:t>
            </a:r>
            <a:r>
              <a:rPr lang="it-IT" dirty="0"/>
              <a:t> and </a:t>
            </a:r>
            <a:r>
              <a:rPr lang="it-IT" dirty="0" err="1"/>
              <a:t>distances</a:t>
            </a:r>
            <a:endParaRPr lang="it-IT" dirty="0"/>
          </a:p>
          <a:p>
            <a:pPr lvl="1"/>
            <a:r>
              <a:rPr lang="it-IT" dirty="0" err="1"/>
              <a:t>Typical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to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approximate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r>
              <a:rPr lang="it-IT" dirty="0"/>
              <a:t>: feature matching and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endParaRPr lang="it-IT" dirty="0"/>
          </a:p>
          <a:p>
            <a:pPr lvl="2"/>
            <a:r>
              <a:rPr lang="it-IT" dirty="0" err="1"/>
              <a:t>Different</a:t>
            </a:r>
            <a:r>
              <a:rPr lang="it-IT" dirty="0"/>
              <a:t> features and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estimators</a:t>
            </a:r>
            <a:endParaRPr lang="it-IT" dirty="0"/>
          </a:p>
          <a:p>
            <a:pPr lvl="1"/>
            <a:r>
              <a:rPr lang="it-IT" dirty="0"/>
              <a:t>Color information can help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74B332-4965-3A76-43C4-6345C6A0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4EF5C6-8E7B-2748-851F-CD0FF541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5D34C2-B5EE-AE83-0F4C-BC7AFEEB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956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799CE-CB87-4F2E-776C-3313A88B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ICP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4B892-EE6D-AD84-8435-5481AD54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 registration of point clouds </a:t>
            </a:r>
          </a:p>
          <a:p>
            <a:pPr lvl="1"/>
            <a:r>
              <a:rPr lang="en-US" dirty="0"/>
              <a:t>Nearest neighbor paring</a:t>
            </a:r>
          </a:p>
          <a:p>
            <a:pPr lvl="1"/>
            <a:r>
              <a:rPr lang="en-US" dirty="0"/>
              <a:t>Procrustes solution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1ECDC9-F715-CE4F-ED97-4546DD68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23155-F331-49A4-B9F6-FE2D65438435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953DA2-39FE-F72B-70B7-5ED83488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725B0A-0AD1-39DE-F732-878C2B86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541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ABF15-F1AB-F9A2-0974-B3B4D9C1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3AB8F0-91D8-E8AA-E6E2-7623E0A2A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</a:p>
          <a:p>
            <a:pPr lvl="1"/>
            <a:r>
              <a:rPr lang="en-US" dirty="0"/>
              <a:t>https://en.wikipedia.org/wiki/Procrustes_analysis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Scaling of both configurations to the same size;</a:t>
            </a:r>
          </a:p>
          <a:p>
            <a:pPr lvl="1"/>
            <a:r>
              <a:rPr lang="en-US" dirty="0"/>
              <a:t>Transposition to the same position of the center of gravity;</a:t>
            </a:r>
          </a:p>
          <a:p>
            <a:pPr lvl="1"/>
            <a:r>
              <a:rPr lang="en-US" dirty="0"/>
              <a:t>Rotation to the orientation that provides the minimum sum of squared distances between corresponding landmarks.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F362C4-A81E-B1B1-5EC7-32790C63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E0F-D557-44B3-BF6A-3490D7124ADA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7C0CE9-C0BB-867E-CF02-A903E86D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5E55F8-2A61-634F-9FFA-07F279D3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6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E648A22-3D3F-87DC-2042-4DBD33BE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464" y="4595068"/>
            <a:ext cx="6733050" cy="256681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D5F06BF-1733-AF0A-CB3C-430FF70D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268" y="971525"/>
            <a:ext cx="3576327" cy="26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9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5E0D87-0E96-B4ED-6D8C-997DF0A7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556B38-85B9-7290-EBA4-4773B5B15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Orthogonal </a:t>
            </a:r>
            <a:r>
              <a:rPr lang="en-US" dirty="0" err="1"/>
              <a:t>procrustes</a:t>
            </a:r>
            <a:r>
              <a:rPr lang="en-US" dirty="0"/>
              <a:t> problem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 is obtained with the singular value decomposition</a:t>
            </a:r>
          </a:p>
          <a:p>
            <a:endParaRPr lang="en-US" dirty="0"/>
          </a:p>
          <a:p>
            <a:pPr marL="108000" indent="0">
              <a:buNone/>
            </a:pPr>
            <a:endParaRPr lang="en-US" dirty="0"/>
          </a:p>
          <a:p>
            <a:r>
              <a:rPr lang="en-US" dirty="0"/>
              <a:t>We can write the code explicitly, without using library functions</a:t>
            </a:r>
          </a:p>
          <a:p>
            <a:pPr lvl="1"/>
            <a:r>
              <a:rPr lang="en-US" dirty="0"/>
              <a:t> icp_ex.py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BF6F74-A071-AA6E-74D3-6B16B7C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4162-37B4-4274-8972-FF1D677198B7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AB86C3-1064-9FFB-BE1A-4CF70197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4C650E-654D-69D0-B594-8A1C244F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7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7F531CE-EB4C-1DDF-4B95-9A85699BA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73" y="1681200"/>
            <a:ext cx="4419600" cy="16192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457A29A-E6EF-FFD6-F577-9F802932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908" y="3697513"/>
            <a:ext cx="1936329" cy="126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5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162B89-D763-DF88-C7DF-18EB5982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Open3D </a:t>
            </a:r>
            <a:r>
              <a:rPr lang="it-IT" dirty="0" err="1"/>
              <a:t>registration</a:t>
            </a:r>
            <a:r>
              <a:rPr lang="it-IT" dirty="0"/>
              <a:t> pipelines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C1C8FE-196D-5E22-C5F8-1AFC77CDF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</a:t>
            </a:r>
          </a:p>
          <a:p>
            <a:pPr lvl="1"/>
            <a:r>
              <a:rPr lang="en-US" dirty="0"/>
              <a:t>ICP, comparing point to point and point to plane distances</a:t>
            </a:r>
          </a:p>
          <a:p>
            <a:pPr lvl="2"/>
            <a:r>
              <a:rPr lang="en-US" dirty="0"/>
              <a:t>icp_registration.py</a:t>
            </a:r>
          </a:p>
          <a:p>
            <a:pPr lvl="1"/>
            <a:r>
              <a:rPr lang="en-US" dirty="0"/>
              <a:t>Colored </a:t>
            </a:r>
            <a:r>
              <a:rPr lang="en-US" dirty="0" err="1"/>
              <a:t>icp</a:t>
            </a:r>
            <a:endParaRPr lang="en-US" dirty="0"/>
          </a:p>
          <a:p>
            <a:pPr lvl="2"/>
            <a:r>
              <a:rPr lang="en-US" dirty="0"/>
              <a:t>colored_icp_registration.py</a:t>
            </a:r>
          </a:p>
          <a:p>
            <a:pPr lvl="1"/>
            <a:r>
              <a:rPr lang="en-US" dirty="0"/>
              <a:t>Robust ICP</a:t>
            </a:r>
          </a:p>
          <a:p>
            <a:pPr lvl="2"/>
            <a:r>
              <a:rPr lang="en-US" dirty="0"/>
              <a:t>robust_icp.py</a:t>
            </a:r>
          </a:p>
          <a:p>
            <a:r>
              <a:rPr lang="en-US" dirty="0"/>
              <a:t>RANSAC for global registration</a:t>
            </a:r>
          </a:p>
          <a:p>
            <a:pPr lvl="1"/>
            <a:r>
              <a:rPr lang="en-US" dirty="0"/>
              <a:t>registration_ransac.py</a:t>
            </a:r>
          </a:p>
          <a:p>
            <a:pPr lvl="1"/>
            <a:r>
              <a:rPr lang="it-IT" dirty="0"/>
              <a:t>https://www.open3d.org/docs/release/tutorial/pipelines/global_registration.html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E7B0C0-622A-A575-40FA-95581CC3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05EB-D55B-4494-9DD1-B809D32BC6F2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F0C89B-1F15-683D-D15E-62494264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1415F4-455E-5292-449F-F6221D5B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8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645CD05-B3B3-B3FC-D5EB-D779366A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161" y="2843733"/>
            <a:ext cx="3437748" cy="292813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A4A3379-BA36-2AAC-A97C-0E30D02E7F86}"/>
              </a:ext>
            </a:extLst>
          </p:cNvPr>
          <p:cNvSpPr txBox="1"/>
          <p:nvPr/>
        </p:nvSpPr>
        <p:spPr>
          <a:xfrm>
            <a:off x="9168159" y="2528021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Robust ICP: different losses</a:t>
            </a:r>
          </a:p>
        </p:txBody>
      </p:sp>
    </p:spTree>
    <p:extLst>
      <p:ext uri="{BB962C8B-B14F-4D97-AF65-F5344CB8AC3E}">
        <p14:creationId xmlns:p14="http://schemas.microsoft.com/office/powerpoint/2010/main" val="244825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8C1848-CB93-49EF-0D3C-89BEEE90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Global matching: feature detector/</a:t>
            </a:r>
            <a:r>
              <a:rPr lang="it-IT" dirty="0" err="1"/>
              <a:t>descriptor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AD9E54-B789-9080-8773-F8B06EC1B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FPFH (Fast Point Feature </a:t>
            </a:r>
            <a:r>
              <a:rPr lang="it-IT" dirty="0" err="1"/>
              <a:t>Histogram</a:t>
            </a:r>
            <a:r>
              <a:rPr lang="it-IT" dirty="0"/>
              <a:t>), </a:t>
            </a:r>
          </a:p>
          <a:p>
            <a:pPr lvl="1"/>
            <a:r>
              <a:rPr lang="en-US" dirty="0"/>
              <a:t>it attempts to capture as best as possible the sampled surface variations by taking into account all the interactions between the directions of the estimated normal</a:t>
            </a:r>
          </a:p>
          <a:p>
            <a:pPr lvl="1"/>
            <a:r>
              <a:rPr lang="en-US" dirty="0"/>
              <a:t>Point feature histogram: capture relationships between </a:t>
            </a:r>
            <a:r>
              <a:rPr lang="en-US" dirty="0" err="1"/>
              <a:t>normals</a:t>
            </a:r>
            <a:r>
              <a:rPr lang="en-US" dirty="0"/>
              <a:t> around the point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24C319-2AAD-14F7-7493-C21F9B1B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BA4B01-00EA-2736-E10A-596E7C6C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50DEB3-2CFF-B4BA-ABC5-69C8B535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9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84A8327-1FB9-BC68-1FAF-8985714C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67" y="3563813"/>
            <a:ext cx="4962128" cy="27911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9CF5636-3328-2124-0D11-2B2904DF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75" y="3639422"/>
            <a:ext cx="5242005" cy="318927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D621096-67F1-B710-2979-ED33A98AA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879" y="4176000"/>
            <a:ext cx="4486901" cy="1991003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D17C22F-7C97-9214-2544-F83C716915B5}"/>
              </a:ext>
            </a:extLst>
          </p:cNvPr>
          <p:cNvSpPr txBox="1"/>
          <p:nvPr/>
        </p:nvSpPr>
        <p:spPr>
          <a:xfrm>
            <a:off x="8016031" y="6731277"/>
            <a:ext cx="67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From PCL https://pcl.readthedocs.io/</a:t>
            </a:r>
          </a:p>
        </p:txBody>
      </p:sp>
    </p:spTree>
    <p:extLst>
      <p:ext uri="{BB962C8B-B14F-4D97-AF65-F5344CB8AC3E}">
        <p14:creationId xmlns:p14="http://schemas.microsoft.com/office/powerpoint/2010/main" val="233597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487AD3-7D20-B15E-4EC5-F5F82697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FPFH (Fast Point Feature </a:t>
            </a:r>
            <a:r>
              <a:rPr lang="it-IT" dirty="0" err="1"/>
              <a:t>Histogram</a:t>
            </a:r>
            <a:r>
              <a:rPr lang="it-IT" dirty="0"/>
              <a:t>),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BF9716-897D-FDEA-4D86-9D9D0DF9C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From PCL https://pcl.readthedocs.io/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DF5378-5B57-FA21-ABA9-AC7A5B2C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E76996-6748-AC0A-2455-B4A26023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EF1E8E-92A9-4822-B9B5-6BBF38F3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10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A4FAA75-9CD0-8239-6DF8-5C52F8AF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54" y="2339240"/>
            <a:ext cx="10025293" cy="489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9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F99C38-6E20-C9B0-6FB4-3CB14A65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</p:spPr>
        <p:txBody>
          <a:bodyPr/>
          <a:lstStyle/>
          <a:p>
            <a:r>
              <a:rPr lang="it-IT" dirty="0" err="1"/>
              <a:t>Homework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496F0C-E304-13E3-012C-E8AC1AE3A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96" y="1681200"/>
            <a:ext cx="12274555" cy="4989600"/>
          </a:xfrm>
        </p:spPr>
        <p:txBody>
          <a:bodyPr/>
          <a:lstStyle/>
          <a:p>
            <a:r>
              <a:rPr lang="it-IT" dirty="0" err="1"/>
              <a:t>Consider</a:t>
            </a:r>
            <a:r>
              <a:rPr lang="it-IT" dirty="0"/>
              <a:t> the point clouds of the </a:t>
            </a:r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scans</a:t>
            </a:r>
            <a:r>
              <a:rPr lang="it-IT" dirty="0"/>
              <a:t>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485F38-DEC1-38E4-37EB-BAA4F94A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946" y="7058520"/>
            <a:ext cx="3130793" cy="349920"/>
          </a:xfrm>
        </p:spPr>
        <p:txBody>
          <a:bodyPr/>
          <a:lstStyle/>
          <a:p>
            <a:fld id="{7E72A12E-10B4-4B10-B907-CFB580FFDFA1}" type="datetime1">
              <a:rPr lang="it-IT" smtClean="0"/>
              <a:t>27/03/2026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EC0DC2-12FE-2BCE-E545-798AE572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6118" y="7041605"/>
            <a:ext cx="4259665" cy="366839"/>
          </a:xfrm>
        </p:spPr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8DB457-9407-4344-FE8E-53A014DD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5721" y="7058520"/>
            <a:ext cx="3130793" cy="349920"/>
          </a:xfrm>
        </p:spPr>
        <p:txBody>
          <a:bodyPr/>
          <a:lstStyle/>
          <a:p>
            <a:fld id="{8B04B791-897E-4328-B3FD-2D81E4AD606D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9427420"/>
      </p:ext>
    </p:extLst>
  </p:cSld>
  <p:clrMapOvr>
    <a:masterClrMapping/>
  </p:clrMapOvr>
</p:sld>
</file>

<file path=ppt/theme/theme1.xml><?xml version="1.0" encoding="utf-8"?>
<a:theme xmlns:a="http://schemas.openxmlformats.org/drawingml/2006/main" name="lez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5592A4ADA142965D394470E5BDCC" ma:contentTypeVersion="18" ma:contentTypeDescription="Creare un nuovo documento." ma:contentTypeScope="" ma:versionID="16c1fc67e0964c4d38efecdd28d8fa2f">
  <xsd:schema xmlns:xsd="http://www.w3.org/2001/XMLSchema" xmlns:xs="http://www.w3.org/2001/XMLSchema" xmlns:p="http://schemas.microsoft.com/office/2006/metadata/properties" xmlns:ns3="6b4d3ab7-1470-4128-9622-ec1cbb31ed76" xmlns:ns4="6e7c07e5-4464-4a81-82bd-bfb2b8f1e56b" targetNamespace="http://schemas.microsoft.com/office/2006/metadata/properties" ma:root="true" ma:fieldsID="2aaf83fee18be6c0bc1d39586c11fdee" ns3:_="" ns4:_="">
    <xsd:import namespace="6b4d3ab7-1470-4128-9622-ec1cbb31ed76"/>
    <xsd:import namespace="6e7c07e5-4464-4a81-82bd-bfb2b8f1e5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d3ab7-1470-4128-9622-ec1cbb31e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c07e5-4464-4a81-82bd-bfb2b8f1e56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4d3ab7-1470-4128-9622-ec1cbb31ed76" xsi:nil="true"/>
  </documentManagement>
</p:properties>
</file>

<file path=customXml/itemProps1.xml><?xml version="1.0" encoding="utf-8"?>
<ds:datastoreItem xmlns:ds="http://schemas.openxmlformats.org/officeDocument/2006/customXml" ds:itemID="{526590C2-FA63-4781-AFEF-83BE3357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4d3ab7-1470-4128-9622-ec1cbb31ed76"/>
    <ds:schemaRef ds:uri="6e7c07e5-4464-4a81-82bd-bfb2b8f1e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87F9D8-BB39-4B50-9844-B26F81374B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FB213B-1BC7-44D2-A873-8D8A7D7FD452}">
  <ds:schemaRefs>
    <ds:schemaRef ds:uri="http://schemas.openxmlformats.org/package/2006/metadata/core-properties"/>
    <ds:schemaRef ds:uri="6b4d3ab7-1470-4128-9622-ec1cbb31ed76"/>
    <ds:schemaRef ds:uri="http://purl.org/dc/elements/1.1/"/>
    <ds:schemaRef ds:uri="http://www.w3.org/XML/1998/namespace"/>
    <ds:schemaRef ds:uri="http://schemas.microsoft.com/office/2006/documentManagement/types"/>
    <ds:schemaRef ds:uri="6e7c07e5-4464-4a81-82bd-bfb2b8f1e56b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36515</TotalTime>
  <Words>565</Words>
  <Application>Microsoft Office PowerPoint</Application>
  <PresentationFormat>Personalizzato</PresentationFormat>
  <Paragraphs>103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22" baseType="lpstr">
      <vt:lpstr>Qlassik Bold</vt:lpstr>
      <vt:lpstr>Verdana</vt:lpstr>
      <vt:lpstr>Abadi</vt:lpstr>
      <vt:lpstr>Qlassik Medium</vt:lpstr>
      <vt:lpstr>StarSymbol</vt:lpstr>
      <vt:lpstr>Sketch Block</vt:lpstr>
      <vt:lpstr>Rockwell</vt:lpstr>
      <vt:lpstr>Calibri</vt:lpstr>
      <vt:lpstr>Arial</vt:lpstr>
      <vt:lpstr>Symbol</vt:lpstr>
      <vt:lpstr>lez11</vt:lpstr>
      <vt:lpstr>Advanced Visual Computing </vt:lpstr>
      <vt:lpstr>Open3D</vt:lpstr>
      <vt:lpstr>Depth images</vt:lpstr>
      <vt:lpstr>Point cloud registration</vt:lpstr>
      <vt:lpstr>ICP</vt:lpstr>
      <vt:lpstr>Procrustes analysis</vt:lpstr>
      <vt:lpstr>Procrustes analysis</vt:lpstr>
      <vt:lpstr>Open3D registration pipelines</vt:lpstr>
      <vt:lpstr>Global matching: feature detector/descriptor</vt:lpstr>
      <vt:lpstr>FPFH (Fast Point Feature Histogram), 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 - Interazione Uomo Macchina</dc:title>
  <dc:creator>andrea giachetti</dc:creator>
  <cp:lastModifiedBy>Andrea Giachetti</cp:lastModifiedBy>
  <cp:revision>748</cp:revision>
  <cp:lastPrinted>2020-03-10T15:42:29Z</cp:lastPrinted>
  <dcterms:created xsi:type="dcterms:W3CDTF">2007-04-16T16:52:06Z</dcterms:created>
  <dcterms:modified xsi:type="dcterms:W3CDTF">2026-03-27T09:07:47Z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ContentTypeId">
    <vt:lpwstr>0x010100BB3F5592A4ADA142965D394470E5BDCC</vt:lpwstr>
  </property>
</Properties>
</file>