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4"/>
  </p:sldMasterIdLst>
  <p:notesMasterIdLst>
    <p:notesMasterId r:id="rId19"/>
  </p:notesMasterIdLst>
  <p:handoutMasterIdLst>
    <p:handoutMasterId r:id="rId20"/>
  </p:handoutMasterIdLst>
  <p:sldIdLst>
    <p:sldId id="351" r:id="rId5"/>
    <p:sldId id="363" r:id="rId6"/>
    <p:sldId id="357" r:id="rId7"/>
    <p:sldId id="364" r:id="rId8"/>
    <p:sldId id="365" r:id="rId9"/>
    <p:sldId id="366" r:id="rId10"/>
    <p:sldId id="367" r:id="rId11"/>
    <p:sldId id="368" r:id="rId12"/>
    <p:sldId id="369" r:id="rId13"/>
    <p:sldId id="358" r:id="rId14"/>
    <p:sldId id="360" r:id="rId15"/>
    <p:sldId id="361" r:id="rId16"/>
    <p:sldId id="370" r:id="rId17"/>
    <p:sldId id="371" r:id="rId18"/>
  </p:sldIdLst>
  <p:sldSz cx="13439775" cy="7559675"/>
  <p:notesSz cx="7104063" cy="10234613"/>
  <p:embeddedFontLst>
    <p:embeddedFont>
      <p:font typeface="Abadi" panose="020B0604020104020204" pitchFamily="34" charset="0"/>
      <p:regular r:id="rId21"/>
    </p:embeddedFont>
    <p:embeddedFont>
      <p:font typeface="Qlassik Bold" panose="05070000000000000000" pitchFamily="18" charset="0"/>
      <p:bold r:id="rId22"/>
    </p:embeddedFont>
    <p:embeddedFont>
      <p:font typeface="Qlassik Medium" panose="05070000000000000000" pitchFamily="18" charset="0"/>
      <p:regular r:id="rId23"/>
    </p:embeddedFont>
    <p:embeddedFont>
      <p:font typeface="Rockwell" panose="02060603020205020403" pitchFamily="18" charset="0"/>
      <p:regular r:id="rId24"/>
      <p:bold r:id="rId25"/>
      <p:italic r:id="rId26"/>
      <p:boldItalic r:id="rId27"/>
    </p:embeddedFont>
    <p:embeddedFont>
      <p:font typeface="Sketch Block" panose="02000000000000000000" pitchFamily="2" charset="0"/>
      <p:regular r:id="rId28"/>
    </p:embeddedFont>
    <p:embeddedFont>
      <p:font typeface="StarSymbol" panose="05000000000000000000" pitchFamily="2" charset="0"/>
      <p:regular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42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DCF162-1D6C-42ED-80A8-64795B856348}" v="1" dt="2024-04-07T06:18:56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8032" autoAdjust="0"/>
  </p:normalViewPr>
  <p:slideViewPr>
    <p:cSldViewPr>
      <p:cViewPr varScale="1">
        <p:scale>
          <a:sx n="67" d="100"/>
          <a:sy n="67" d="100"/>
        </p:scale>
        <p:origin x="348" y="36"/>
      </p:cViewPr>
      <p:guideLst>
        <p:guide orient="horz" pos="2381"/>
        <p:guide pos="42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3802" y="1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compatLnSpc="0"/>
          <a:lstStyle/>
          <a:p>
            <a:pPr hangingPunct="0">
              <a:defRPr sz="1400"/>
            </a:pPr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3" name="Segnaposto data 2"/>
          <p:cNvSpPr txBox="1">
            <a:spLocks noGrp="1"/>
          </p:cNvSpPr>
          <p:nvPr>
            <p:ph type="dt" sz="quarter" idx="1"/>
          </p:nvPr>
        </p:nvSpPr>
        <p:spPr>
          <a:xfrm>
            <a:off x="4021162" y="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compatLnSpc="0"/>
          <a:lstStyle/>
          <a:p>
            <a:pPr algn="r" hangingPunct="0">
              <a:defRPr sz="1400"/>
            </a:pPr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4" name="Segnaposto piè di pagina 3"/>
          <p:cNvSpPr txBox="1">
            <a:spLocks noGrp="1"/>
          </p:cNvSpPr>
          <p:nvPr>
            <p:ph type="ftr" sz="quarter" idx="2"/>
          </p:nvPr>
        </p:nvSpPr>
        <p:spPr>
          <a:xfrm>
            <a:off x="0" y="972330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anchor="b" compatLnSpc="0"/>
          <a:lstStyle/>
          <a:p>
            <a:pPr hangingPunct="0">
              <a:defRPr sz="1400"/>
            </a:pPr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5" name="Segnaposto numero diapositiva 4"/>
          <p:cNvSpPr txBox="1">
            <a:spLocks noGrp="1"/>
          </p:cNvSpPr>
          <p:nvPr>
            <p:ph type="sldNum" sz="quarter" idx="3"/>
          </p:nvPr>
        </p:nvSpPr>
        <p:spPr>
          <a:xfrm>
            <a:off x="4021162" y="9723300"/>
            <a:ext cx="3082787" cy="511265"/>
          </a:xfrm>
          <a:prstGeom prst="rect">
            <a:avLst/>
          </a:prstGeom>
          <a:noFill/>
          <a:ln>
            <a:noFill/>
          </a:ln>
        </p:spPr>
        <p:txBody>
          <a:bodyPr vert="horz" wrap="none" lIns="85491" tIns="42746" rIns="85491" bIns="42746" anchor="b" compatLnSpc="0"/>
          <a:lstStyle/>
          <a:p>
            <a:pPr algn="r" hangingPunct="0">
              <a:defRPr sz="1400"/>
            </a:pPr>
            <a:fld id="{E74C1C3F-7EE1-4583-9610-50D269EDCB3D}" type="slidenum">
              <a:pPr algn="r" hangingPunct="0">
                <a:defRPr sz="1400"/>
              </a:pPr>
              <a:t>‹N›</a:t>
            </a:fld>
            <a:endParaRPr lang="it-IT" sz="1300">
              <a:latin typeface="Arial" pitchFamily="18"/>
              <a:ea typeface="Lucida Sans Unicode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176607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>
            <a:spLocks noMove="1" noResize="1"/>
          </p:cNvSpPr>
          <p:nvPr/>
        </p:nvSpPr>
        <p:spPr>
          <a:xfrm>
            <a:off x="0" y="0"/>
            <a:ext cx="7104368" cy="10234792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</p:spPr>
        <p:txBody>
          <a:bodyPr vert="horz" wrap="none" lIns="85491" tIns="42746" rIns="85491" bIns="42746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it-IT" sz="1700" b="0" i="0" u="none" strike="noStrike">
              <a:ln>
                <a:noFill/>
              </a:ln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3" name="Figura a mano libera 2"/>
          <p:cNvSpPr/>
          <p:nvPr/>
        </p:nvSpPr>
        <p:spPr>
          <a:xfrm>
            <a:off x="0" y="0"/>
            <a:ext cx="7105045" cy="10236170"/>
          </a:xfrm>
          <a:custGeom>
            <a:avLst>
              <a:gd name="f0" fmla="val 5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85491" tIns="44455" rIns="85491" bIns="44455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it-IT" sz="1700" b="0" i="0" u="none" strike="noStrike">
              <a:ln>
                <a:noFill/>
              </a:ln>
              <a:latin typeface="Arial" pitchFamily="18"/>
              <a:ea typeface="Lucida Sans Unicode" pitchFamily="2"/>
              <a:cs typeface="Tahoma" pitchFamily="2"/>
            </a:endParaRPr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5643225" y="-7366000"/>
            <a:ext cx="31288038" cy="17600613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5" name="Segnaposto note 4"/>
          <p:cNvSpPr txBox="1">
            <a:spLocks noGrp="1"/>
          </p:cNvSpPr>
          <p:nvPr>
            <p:ph type="body" sz="quarter" idx="3"/>
          </p:nvPr>
        </p:nvSpPr>
        <p:spPr>
          <a:xfrm>
            <a:off x="709422" y="4861699"/>
            <a:ext cx="5681465" cy="46049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9656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0" rtl="0" hangingPunct="0">
      <a:tabLst/>
      <a:defRPr lang="it-IT" sz="2000" b="0" i="0" u="none" strike="noStrike">
        <a:ln>
          <a:noFill/>
        </a:ln>
        <a:latin typeface="Arial" pitchFamily="18"/>
        <a:cs typeface="Tahoma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5900" y="812800"/>
            <a:ext cx="7126288" cy="4008438"/>
          </a:xfrm>
          <a:solidFill>
            <a:srgbClr val="99CC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7640" cy="432426"/>
          </a:xfrm>
        </p:spPr>
        <p:txBody>
          <a:bodyPr>
            <a:spAutoFit/>
          </a:bodyPr>
          <a:lstStyle/>
          <a:p>
            <a:endParaRPr lang="it-IT" sz="2810" kern="1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368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007457" y="2347918"/>
            <a:ext cx="11424867" cy="1620837"/>
          </a:xfrm>
        </p:spPr>
        <p:txBody>
          <a:bodyPr/>
          <a:lstStyle>
            <a:lvl1pPr>
              <a:buFontTx/>
              <a:buNone/>
              <a:defRPr sz="66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017027" y="4283075"/>
            <a:ext cx="9407842" cy="19319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80DF9979-574D-4FCB-BD6E-599E7841CFDD}" type="datetime1">
              <a:rPr lang="it-IT" smtClean="0"/>
              <a:t>23/03/2026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24/25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855BC8DA-C10C-404D-8B72-5A3EDF8878D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2823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FontTx/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A41D7EFB-AC36-469E-832F-6A302A734BC9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24/25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8B04B791-897E-4328-B3FD-2D81E4AD606D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0949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62483" y="4857755"/>
            <a:ext cx="11422751" cy="1501775"/>
          </a:xfrm>
        </p:spPr>
        <p:txBody>
          <a:bodyPr anchor="t"/>
          <a:lstStyle>
            <a:lvl1pPr algn="l">
              <a:buFontTx/>
              <a:buNone/>
              <a:defRPr sz="5400" b="1" cap="all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62483" y="3203577"/>
            <a:ext cx="11422751" cy="1654175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53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17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8156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695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7234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6773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6312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6EF4E2F-09BC-4893-B59F-E09FEB593DFF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24/25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4CF43EEC-617B-4860-93DC-558AFDA2912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985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FontTx/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2040" y="1681163"/>
            <a:ext cx="6216160" cy="498951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7001383" y="1681163"/>
            <a:ext cx="5855366" cy="498951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A4134BDA-DF45-40F9-B864-B60A86A21FB3}" type="datetime1">
              <a:rPr lang="it-IT" smtClean="0"/>
              <a:t>23/03/2026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24/25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BF158BD1-7A9B-4461-A385-B543F4733070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46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73049" y="303218"/>
            <a:ext cx="12095798" cy="1258887"/>
          </a:xfrm>
        </p:spPr>
        <p:txBody>
          <a:bodyPr/>
          <a:lstStyle>
            <a:lvl1pPr>
              <a:buFontTx/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73047" y="1692275"/>
            <a:ext cx="5936783" cy="70485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73047" y="2397125"/>
            <a:ext cx="5936783" cy="4356100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827831" y="1692275"/>
            <a:ext cx="5941016" cy="70485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827831" y="2397125"/>
            <a:ext cx="5941016" cy="4356100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913F321D-3C3A-45AD-A9A8-1162D6FB1A67}" type="datetime1">
              <a:rPr lang="it-IT" smtClean="0"/>
              <a:t>23/03/2026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24/25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BA2F18FA-F34A-48B2-B8AB-ABDE98A2E6CA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077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 sz="6000"/>
            </a:lvl1pPr>
          </a:lstStyle>
          <a:p>
            <a:r>
              <a:rPr lang="it-IT" dirty="0"/>
              <a:t>Fare clic per modificare lo stile del titolo</a:t>
            </a:r>
            <a:endParaRPr lang="en-US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D710AFC6-935C-4EDD-9E6E-FDBE53D01516}" type="datetime1">
              <a:rPr lang="it-IT" smtClean="0"/>
              <a:t>23/03/2026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r>
              <a:rPr lang="it-IT"/>
              <a:t>AVC 24/25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C645D62E-CFA1-4826-879F-F4B5BC17AD5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626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9EED9603-7416-49ED-8BDE-9C1A07C0F751}" type="datetime1">
              <a:rPr lang="it-IT" smtClean="0"/>
              <a:t>23/03/2026</a:t>
            </a:fld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5A7C861E-D030-43FF-AC94-E2D5143DF10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897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73047" y="301630"/>
            <a:ext cx="4421369" cy="1279525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255273" y="301625"/>
            <a:ext cx="7513575" cy="6451600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73047" y="1581154"/>
            <a:ext cx="4421369" cy="5172075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2678A060-68C4-490F-88AD-164C5D5E3657}" type="datetime1">
              <a:rPr lang="it-IT" smtClean="0"/>
              <a:t>23/03/2026</a:t>
            </a:fld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16B80B6E-A4D6-4411-B888-14C3E70F21A0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4904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635046" y="5291143"/>
            <a:ext cx="8063865" cy="625475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635046" y="674693"/>
            <a:ext cx="8063865" cy="4537075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635046" y="5916613"/>
            <a:ext cx="8063865" cy="887412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6547482-348D-459A-9C3D-CE48B5FD6840}" type="datetime1">
              <a:rPr lang="it-IT" smtClean="0"/>
              <a:t>23/03/2026</a:t>
            </a:fld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E76AA5-F148-42C4-A2A9-57D958F3988B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5071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33A092CB-4E8C-444E-AC2D-3EB23560EDE6}" type="datetime1">
              <a:rPr lang="it-IT" smtClean="0"/>
              <a:t>23/03/2026</a:t>
            </a:fld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A1C91C-D157-48DC-9B11-DE3A292616F7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832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10061841" y="122243"/>
            <a:ext cx="3157818" cy="654843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582038" y="122243"/>
            <a:ext cx="9276619" cy="654843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D43846A-71D7-40C2-B978-3FE1541F8AA7}" type="datetime1">
              <a:rPr lang="it-IT" smtClean="0"/>
              <a:t>23/03/2026</a:t>
            </a:fld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01E018E-FCA6-4918-88A3-3822F9A41665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6945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989" y="302737"/>
            <a:ext cx="12095798" cy="12599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71988" y="1763925"/>
            <a:ext cx="5935901" cy="4989036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1887" y="1763925"/>
            <a:ext cx="5935901" cy="49890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915EAB-5F24-4621-B5CB-23123A03CE81}" type="datetime1">
              <a:rPr lang="it-IT" smtClean="0"/>
              <a:t>23/03/2026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AVC 24/25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1D4BC3-C9B1-47AE-8C50-FA0E2EF8A16E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85931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4976" y="73497"/>
            <a:ext cx="12255319" cy="826517"/>
          </a:xfrm>
          <a:prstGeom prst="rect">
            <a:avLst/>
          </a:prstGeom>
          <a:solidFill>
            <a:srgbClr val="185C72">
              <a:alpha val="60000"/>
            </a:srgbClr>
          </a:solidFill>
          <a:ln>
            <a:noFill/>
          </a:ln>
        </p:spPr>
        <p:txBody>
          <a:bodyPr anchor="ctr"/>
          <a:lstStyle>
            <a:lvl1pPr>
              <a:defRPr lang="de-CH" sz="3527" dirty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93743" y="1128241"/>
            <a:ext cx="12724038" cy="520243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solidFill>
                  <a:srgbClr val="17435B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CH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03921" y="6709211"/>
            <a:ext cx="7661556" cy="755968"/>
          </a:xfrm>
          <a:prstGeom prst="rect">
            <a:avLst/>
          </a:prstGeom>
        </p:spPr>
        <p:txBody>
          <a:bodyPr anchor="ctr"/>
          <a:lstStyle>
            <a:lvl1pPr>
              <a:defRPr sz="1543">
                <a:solidFill>
                  <a:srgbClr val="185C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CH"/>
              <a:t>AVC 24/25</a:t>
            </a:r>
            <a:endParaRPr lang="de-CH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365478" y="6709211"/>
            <a:ext cx="760409" cy="755968"/>
          </a:xfrm>
          <a:prstGeom prst="rect">
            <a:avLst/>
          </a:prstGeom>
        </p:spPr>
        <p:txBody>
          <a:bodyPr anchor="ctr"/>
          <a:lstStyle>
            <a:lvl1pPr algn="r">
              <a:defRPr sz="1543">
                <a:solidFill>
                  <a:srgbClr val="185C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3B5F642D-6A31-4596-8C22-CC368C1BDF36}" type="slidenum">
              <a:rPr lang="de-CH" smtClean="0"/>
              <a:pPr/>
              <a:t>‹N›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99094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xfrm>
            <a:off x="671989" y="167993"/>
            <a:ext cx="12095798" cy="1343942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Title Text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382595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2"/>
          <p:cNvSpPr txBox="1">
            <a:spLocks noGrp="1"/>
          </p:cNvSpPr>
          <p:nvPr>
            <p:ph type="title"/>
          </p:nvPr>
        </p:nvSpPr>
        <p:spPr>
          <a:xfrm>
            <a:off x="762180" y="122400"/>
            <a:ext cx="12094568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it-IT" dirty="0"/>
          </a:p>
        </p:txBody>
      </p:sp>
      <p:sp>
        <p:nvSpPr>
          <p:cNvPr id="4" name="Segnaposto testo 3"/>
          <p:cNvSpPr txBox="1">
            <a:spLocks noGrp="1"/>
          </p:cNvSpPr>
          <p:nvPr>
            <p:ph type="body" idx="1"/>
          </p:nvPr>
        </p:nvSpPr>
        <p:spPr>
          <a:xfrm>
            <a:off x="582196" y="1681200"/>
            <a:ext cx="12274555" cy="4989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>
            <a:defPPr marL="432000" marR="0" lvl="0" indent="-3240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95000"/>
              <a:buFont typeface="Symbol"/>
              <a:buNone/>
              <a:tabLst/>
              <a:defRPr lang="it-IT" sz="32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defPPr>
            <a:lvl1pPr marL="432000" marR="0" lvl="0" indent="-3240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ct val="95000"/>
              <a:buFont typeface="Symbol"/>
              <a:buChar char="·"/>
              <a:tabLst/>
              <a:defRPr lang="it-IT" sz="32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1pPr>
            <a:lvl2pPr marL="864000" marR="0" lvl="1" indent="-324000" algn="l" rtl="0" hangingPunct="0">
              <a:lnSpc>
                <a:spcPct val="100000"/>
              </a:lnSpc>
              <a:spcBef>
                <a:spcPts val="0"/>
              </a:spcBef>
              <a:spcAft>
                <a:spcPts val="283"/>
              </a:spcAft>
              <a:buClr>
                <a:srgbClr val="579D1C"/>
              </a:buClr>
              <a:buSzPct val="85000"/>
              <a:buFont typeface="Symbol"/>
              <a:buChar char="·"/>
              <a:tabLst>
                <a:tab pos="18000" algn="l"/>
              </a:tabLst>
              <a:defRPr lang="it-IT" sz="28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2pPr>
            <a:lvl3pPr marL="1295999" marR="0" lvl="2" indent="-288000" algn="l" rtl="0" hangingPunct="0">
              <a:lnSpc>
                <a:spcPct val="100000"/>
              </a:lnSpc>
              <a:spcBef>
                <a:spcPts val="0"/>
              </a:spcBef>
              <a:spcAft>
                <a:spcPts val="283"/>
              </a:spcAft>
              <a:buClr>
                <a:srgbClr val="9999FF"/>
              </a:buClr>
              <a:buSzPct val="75000"/>
              <a:buFont typeface="Symbol"/>
              <a:buChar char="·"/>
              <a:tabLst>
                <a:tab pos="18000" algn="l"/>
              </a:tabLst>
              <a:defRPr lang="it-IT" sz="26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3pPr>
            <a:lvl4pPr marL="1728000" marR="0" lvl="3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70000"/>
              <a:buFont typeface="Symbol"/>
              <a:buChar char="·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4pPr>
            <a:lvl5pPr marL="2160000" marR="0" lvl="4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5pPr>
            <a:lvl6pPr marL="2592000" marR="0" lvl="5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6pPr>
            <a:lvl7pPr marL="3024000" marR="0" lvl="6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7pPr>
            <a:lvl8pPr marL="3456000" marR="0" lvl="7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8pPr>
            <a:lvl9pPr marL="3887999" marR="0" lvl="8" indent="-216000" algn="l" rtl="0" hangingPunc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SzPct val="50000"/>
              <a:buFont typeface="Sketch Block"/>
              <a:buChar char="*"/>
              <a:tabLst>
                <a:tab pos="18000" algn="l"/>
              </a:tabLst>
              <a:defRPr lang="it-IT" sz="2400" b="0" i="0" u="none" strike="noStrike" kern="1200" spc="0" baseline="0">
                <a:ln>
                  <a:noFill/>
                </a:ln>
                <a:latin typeface="Qlassik Medium" pitchFamily="2"/>
                <a:ea typeface="DejaVu Sans" pitchFamily="2"/>
                <a:cs typeface="DejaVu Sans" pitchFamily="2"/>
              </a:defRPr>
            </a:lvl9pPr>
          </a:lstStyle>
          <a:p>
            <a:pPr lvl="0"/>
            <a:r>
              <a:rPr lang="it-IT" dirty="0"/>
              <a:t>Click to edit the outline text format</a:t>
            </a:r>
          </a:p>
          <a:p>
            <a:pPr lvl="1"/>
            <a:r>
              <a:rPr lang="it-IT" dirty="0"/>
              <a:t>Second Outline Level</a:t>
            </a:r>
          </a:p>
          <a:p>
            <a:pPr lvl="2"/>
            <a:r>
              <a:rPr lang="it-IT" dirty="0"/>
              <a:t>Third Outline Level</a:t>
            </a:r>
          </a:p>
          <a:p>
            <a:pPr lvl="3"/>
            <a:r>
              <a:rPr lang="it-IT" dirty="0"/>
              <a:t>Fourth Outline Level</a:t>
            </a:r>
          </a:p>
          <a:p>
            <a:pPr lvl="4"/>
            <a:r>
              <a:rPr lang="it-IT" dirty="0"/>
              <a:t>Fifth Outline Level</a:t>
            </a:r>
          </a:p>
          <a:p>
            <a:pPr lvl="5"/>
            <a:r>
              <a:rPr lang="it-IT" dirty="0"/>
              <a:t>Sixth Outline Level</a:t>
            </a:r>
          </a:p>
          <a:p>
            <a:pPr lvl="6"/>
            <a:r>
              <a:rPr lang="it-IT" dirty="0"/>
              <a:t>Seventh Outline Level</a:t>
            </a:r>
          </a:p>
          <a:p>
            <a:pPr lvl="7"/>
            <a:r>
              <a:rPr lang="it-IT" dirty="0"/>
              <a:t>Eighth Outline Level</a:t>
            </a:r>
          </a:p>
          <a:p>
            <a:pPr lvl="8"/>
            <a:r>
              <a:rPr lang="it-IT" dirty="0"/>
              <a:t>Ninth Outline Level</a:t>
            </a:r>
          </a:p>
        </p:txBody>
      </p:sp>
      <p:sp>
        <p:nvSpPr>
          <p:cNvPr id="5" name="Segnaposto data 4"/>
          <p:cNvSpPr txBox="1">
            <a:spLocks noGrp="1"/>
          </p:cNvSpPr>
          <p:nvPr>
            <p:ph type="dt" sz="half" idx="2"/>
          </p:nvPr>
        </p:nvSpPr>
        <p:spPr>
          <a:xfrm>
            <a:off x="671946" y="7058520"/>
            <a:ext cx="3130793" cy="349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it-IT" sz="2133" kern="1200">
                <a:latin typeface="Rockwell" panose="02060603020205020403" pitchFamily="18" charset="0"/>
                <a:ea typeface="Lucida Sans Unicode" pitchFamily="2"/>
                <a:cs typeface="Tahoma" pitchFamily="2"/>
              </a:defRPr>
            </a:lvl1pPr>
          </a:lstStyle>
          <a:p>
            <a:fld id="{BBFF5D7B-46A0-4BE9-9CCF-B972D8555FEA}" type="datetime1">
              <a:rPr lang="it-IT" smtClean="0"/>
              <a:t>23/03/2026</a:t>
            </a:fld>
            <a:endParaRPr lang="it-IT" dirty="0"/>
          </a:p>
        </p:txBody>
      </p:sp>
      <p:sp>
        <p:nvSpPr>
          <p:cNvPr id="6" name="Segnaposto piè di pagina 5"/>
          <p:cNvSpPr txBox="1">
            <a:spLocks noGrp="1"/>
          </p:cNvSpPr>
          <p:nvPr>
            <p:ph type="ftr" sz="quarter" idx="3"/>
          </p:nvPr>
        </p:nvSpPr>
        <p:spPr>
          <a:xfrm>
            <a:off x="4596118" y="7041605"/>
            <a:ext cx="4259665" cy="3668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ctr" rtl="0" hangingPunct="0">
              <a:buNone/>
              <a:tabLst/>
              <a:defRPr lang="it-IT" sz="2133" kern="1200">
                <a:latin typeface="Rockwell" panose="02060603020205020403" pitchFamily="18" charset="0"/>
                <a:ea typeface="Lucida Sans Unicode" pitchFamily="2"/>
                <a:cs typeface="Tahoma" pitchFamily="2"/>
              </a:defRPr>
            </a:lvl1pPr>
          </a:lstStyle>
          <a:p>
            <a:r>
              <a:rPr lang="it-IT"/>
              <a:t>AVC 24/25</a:t>
            </a:r>
            <a:endParaRPr lang="it-IT" dirty="0"/>
          </a:p>
        </p:txBody>
      </p:sp>
      <p:sp>
        <p:nvSpPr>
          <p:cNvPr id="7" name="Segnaposto numero diapositiva 6"/>
          <p:cNvSpPr txBox="1">
            <a:spLocks noGrp="1"/>
          </p:cNvSpPr>
          <p:nvPr>
            <p:ph type="sldNum" sz="quarter" idx="4"/>
          </p:nvPr>
        </p:nvSpPr>
        <p:spPr>
          <a:xfrm>
            <a:off x="9635721" y="7058520"/>
            <a:ext cx="3130793" cy="349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it-IT" sz="2133" kern="1200">
                <a:latin typeface="Rockwell" panose="02060603020205020403" pitchFamily="18" charset="0"/>
                <a:ea typeface="Lucida Sans Unicode" pitchFamily="2"/>
                <a:cs typeface="Tahoma" pitchFamily="2"/>
              </a:defRPr>
            </a:lvl1pPr>
          </a:lstStyle>
          <a:p>
            <a:fld id="{C520E673-7DC9-43D6-AF14-D86C202CC653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52" y="0"/>
            <a:ext cx="13439423" cy="7559675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D8BE3401-8D83-BC07-FBB8-F8C4D91C82E0}"/>
              </a:ext>
            </a:extLst>
          </p:cNvPr>
          <p:cNvSpPr/>
          <p:nvPr userDrawn="1"/>
        </p:nvSpPr>
        <p:spPr>
          <a:xfrm>
            <a:off x="0" y="0"/>
            <a:ext cx="1967359" cy="1979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 descr="Immagine che contiene oscurità, Policromia, schermata&#10;&#10;Descrizione generata automaticamente">
            <a:extLst>
              <a:ext uri="{FF2B5EF4-FFF2-40B4-BE49-F238E27FC236}">
                <a16:creationId xmlns:a16="http://schemas.microsoft.com/office/drawing/2014/main" id="{B06A1663-E8F1-30C8-90E8-766907D708E6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91" y="183926"/>
            <a:ext cx="3443583" cy="4275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</p:sldLayoutIdLst>
  <p:hf hdr="0"/>
  <p:txStyles>
    <p:titleStyle>
      <a:lvl1pPr algn="ctr" rtl="0" hangingPunct="0">
        <a:buFontTx/>
        <a:buNone/>
        <a:tabLst/>
        <a:defRPr lang="it-IT" sz="7199" b="1" i="0" u="none" strike="noStrike" kern="1200">
          <a:ln>
            <a:noFill/>
          </a:ln>
          <a:solidFill>
            <a:srgbClr val="800000"/>
          </a:solidFill>
          <a:latin typeface="Qlassik Bold" pitchFamily="2"/>
        </a:defRPr>
      </a:lvl1pPr>
    </p:titleStyle>
    <p:bodyStyle>
      <a:lvl1pPr lvl="0">
        <a:buClr>
          <a:srgbClr val="800000"/>
        </a:buClr>
        <a:buSzPct val="95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1pPr>
      <a:lvl2pPr lvl="1">
        <a:buClr>
          <a:srgbClr val="579D1C"/>
        </a:buClr>
        <a:buSzPct val="85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2pPr>
      <a:lvl3pPr lvl="2">
        <a:buClr>
          <a:srgbClr val="9999FF"/>
        </a:buClr>
        <a:buSzPct val="75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3pPr>
      <a:lvl4pPr lvl="3">
        <a:buSzPct val="70000"/>
        <a:buFont typeface="Symbol"/>
        <a:buChar char="·"/>
        <a:defRPr lang="it-IT" sz="4266" b="0" i="0" u="none" strike="noStrike" kern="1200" spc="0" baseline="0">
          <a:ln>
            <a:noFill/>
          </a:ln>
          <a:latin typeface="Qlassik Medium" pitchFamily="2"/>
        </a:defRPr>
      </a:lvl4pPr>
      <a:lvl5pPr lvl="4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5pPr>
      <a:lvl6pPr lvl="5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6pPr>
      <a:lvl7pPr lvl="6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7pPr>
      <a:lvl8pPr lvl="7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8pPr>
      <a:lvl9pPr lvl="8">
        <a:buSzPct val="50000"/>
        <a:buFont typeface="Sketch Block"/>
        <a:buChar char="*"/>
        <a:defRPr lang="it-IT" sz="4266" b="0" i="0" u="none" strike="noStrike" kern="1200" spc="0" baseline="0">
          <a:ln>
            <a:noFill/>
          </a:ln>
          <a:latin typeface="Qlassik Medium" pitchFamily="2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drea.giachetti@univr.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3d.org/docs/latest/tutorial/pipelines/index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PLY_(file_format)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it-IT" dirty="0"/>
              <a:t>Advanced Visual Computing 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731" y="4450768"/>
            <a:ext cx="10415296" cy="2575781"/>
          </a:xfrm>
        </p:spPr>
        <p:txBody>
          <a:bodyPr/>
          <a:lstStyle/>
          <a:p>
            <a:pPr lvl="0"/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  <a:t>Lab 3</a:t>
            </a:r>
          </a:p>
          <a:p>
            <a:pPr lvl="0"/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  <a:t>Andrea Giachetti University of Verona, Italy</a:t>
            </a:r>
            <a:b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</a:rPr>
            </a:br>
            <a:r>
              <a:rPr lang="it-IT" sz="2800" dirty="0">
                <a:latin typeface="Rockwell" panose="02060603020205020403" pitchFamily="18" charset="0"/>
                <a:ea typeface="Chinese Ruler" panose="02000000000000000000" pitchFamily="2" charset="0"/>
                <a:hlinkClick r:id="rId3"/>
              </a:rPr>
              <a:t>andrea.giachetti@univr.it</a:t>
            </a:r>
            <a:endParaRPr lang="it-IT" sz="2800" dirty="0">
              <a:latin typeface="Rockwell" panose="02060603020205020403" pitchFamily="18" charset="0"/>
              <a:ea typeface="Chinese Ruler" panose="02000000000000000000" pitchFamily="2" charset="0"/>
            </a:endParaRPr>
          </a:p>
          <a:p>
            <a:pPr lvl="0"/>
            <a:br>
              <a:rPr lang="it-IT" dirty="0">
                <a:latin typeface="Rockwell" panose="02060603020205020403" pitchFamily="18" charset="0"/>
                <a:ea typeface="Chinese Ruler" panose="02000000000000000000" pitchFamily="2" charset="0"/>
              </a:rPr>
            </a:br>
            <a:endParaRPr lang="it-IT" dirty="0">
              <a:latin typeface="Rockwell" panose="02060603020205020403" pitchFamily="18" charset="0"/>
              <a:ea typeface="Chinese Ruler" panose="02000000000000000000" pitchFamily="2" charset="0"/>
            </a:endParaRPr>
          </a:p>
          <a:p>
            <a:endParaRPr lang="it-IT" dirty="0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3830891-6604-4210-8522-088CA559AC82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it-IT"/>
              <a:t>AVC 24/25</a:t>
            </a:r>
            <a:endParaRPr lang="it-IT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035B84F-6186-40EE-8B7D-48376816C3AB}" type="slidenum">
              <a:rPr lang="it-IT" smtClean="0"/>
              <a:pPr lvl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055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B4444E-DAFE-AECE-FBBE-A219512D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Depth Camera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28D61C-CCA0-A5DC-03AC-A9F01F49B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introduction_rgbd</a:t>
            </a:r>
            <a:r>
              <a:rPr lang="it-IT" dirty="0"/>
              <a:t> shows a file </a:t>
            </a:r>
            <a:r>
              <a:rPr lang="it-IT" dirty="0" err="1"/>
              <a:t>captured</a:t>
            </a:r>
            <a:r>
              <a:rPr lang="it-IT" dirty="0"/>
              <a:t> from </a:t>
            </a:r>
            <a:r>
              <a:rPr lang="it-IT" dirty="0" err="1"/>
              <a:t>depth</a:t>
            </a:r>
            <a:r>
              <a:rPr lang="it-IT" dirty="0"/>
              <a:t> camera and the </a:t>
            </a:r>
            <a:r>
              <a:rPr lang="it-IT" dirty="0" err="1"/>
              <a:t>basic</a:t>
            </a:r>
            <a:r>
              <a:rPr lang="it-IT" dirty="0"/>
              <a:t> processing to </a:t>
            </a:r>
            <a:r>
              <a:rPr lang="it-IT" dirty="0" err="1"/>
              <a:t>visualize</a:t>
            </a:r>
            <a:r>
              <a:rPr lang="it-IT" dirty="0"/>
              <a:t> point clouds </a:t>
            </a:r>
            <a:r>
              <a:rPr lang="it-IT" dirty="0" err="1"/>
              <a:t>using</a:t>
            </a:r>
            <a:r>
              <a:rPr lang="it-IT" dirty="0"/>
              <a:t> Open3d</a:t>
            </a:r>
          </a:p>
          <a:p>
            <a:r>
              <a:rPr lang="en-US" dirty="0"/>
              <a:t>The RGB-D image is acquired with </a:t>
            </a:r>
            <a:r>
              <a:rPr lang="en-US" dirty="0" err="1"/>
              <a:t>PrimeSenseCarmine</a:t>
            </a:r>
            <a:r>
              <a:rPr lang="en-US" dirty="0"/>
              <a:t> cameras</a:t>
            </a:r>
          </a:p>
          <a:p>
            <a:pPr lvl="1"/>
            <a:r>
              <a:rPr lang="en-US" dirty="0"/>
              <a:t>The focal length is 525 for both axes (</a:t>
            </a:r>
            <a:r>
              <a:rPr lang="en-US" dirty="0" err="1"/>
              <a:t>fx</a:t>
            </a:r>
            <a:r>
              <a:rPr lang="en-US" dirty="0"/>
              <a:t>=525, </a:t>
            </a:r>
            <a:r>
              <a:rPr lang="en-US" dirty="0" err="1"/>
              <a:t>fy</a:t>
            </a:r>
            <a:r>
              <a:rPr lang="en-US" dirty="0"/>
              <a:t>=525)and the principal point is (cx =319.5,cy=239.5)</a:t>
            </a:r>
          </a:p>
          <a:p>
            <a:endParaRPr lang="it-IT" dirty="0"/>
          </a:p>
          <a:p>
            <a:pPr marL="10800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3C31A05-86B8-A6D8-CD5F-BA914FEFF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B1AF7-47A6-49E1-8A3D-38B396A128C8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170A2FE-420B-C50E-40E4-729883B8C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6D0C1D-CAEB-2566-64CA-1B8509A5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7897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728CBB-B99C-24DE-8905-9E501C6E1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Open3D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FD1B42-B307-21AA-F839-6701E81DB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Powerful library for 3d data processing</a:t>
            </a:r>
          </a:p>
          <a:p>
            <a:pPr lvl="1"/>
            <a:r>
              <a:rPr lang="en-US" dirty="0"/>
              <a:t>Can handle point clouds (other tool </a:t>
            </a:r>
            <a:r>
              <a:rPr lang="en-US" dirty="0" err="1"/>
              <a:t>pcl</a:t>
            </a:r>
            <a:r>
              <a:rPr lang="en-US" dirty="0"/>
              <a:t>)</a:t>
            </a:r>
          </a:p>
          <a:p>
            <a:r>
              <a:rPr lang="en-US" dirty="0"/>
              <a:t>Let’s see the registration pipelines demos</a:t>
            </a:r>
          </a:p>
          <a:p>
            <a:pPr lvl="1"/>
            <a:r>
              <a:rPr lang="en-US" dirty="0">
                <a:hlinkClick r:id="rId2"/>
              </a:rPr>
              <a:t>https://www.open3d.org/docs/latest/tutorial/pipelines/index.html</a:t>
            </a:r>
            <a:endParaRPr lang="en-US" dirty="0"/>
          </a:p>
          <a:p>
            <a:r>
              <a:rPr lang="en-US" dirty="0"/>
              <a:t>Code is included in the last Lab3 archive</a:t>
            </a:r>
          </a:p>
          <a:p>
            <a:pPr lvl="1"/>
            <a:r>
              <a:rPr lang="en-US" dirty="0"/>
              <a:t>Look at the examples and try to understand the different points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FF8641-2F13-2FCD-C99E-7BCBA356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677D-C9D7-4757-AC1C-9AA6E071CD66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4307445-55FC-18DB-E2D8-8BA6246D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AA6E4D-4B6B-31AF-9185-1A2A265C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5826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3799CE-CB87-4F2E-776C-3313A88B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ICP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54B892-EE6D-AD84-8435-5481AD542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Iterative registration of point clouds </a:t>
            </a:r>
          </a:p>
          <a:p>
            <a:pPr lvl="1"/>
            <a:r>
              <a:rPr lang="en-US" dirty="0"/>
              <a:t>Nearest neighbor paring</a:t>
            </a:r>
          </a:p>
          <a:p>
            <a:pPr lvl="1"/>
            <a:r>
              <a:rPr lang="en-US" dirty="0"/>
              <a:t>Procrustes solution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1ECDC9-F715-CE4F-ED97-4546DD68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23155-F331-49A4-B9F6-FE2D65438435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953DA2-39FE-F72B-70B7-5ED834887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8725B0A-0AD1-39DE-F732-878C2B86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5413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9ABF15-F1AB-F9A2-0974-B3B4D9C18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Procrustes analysis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3AB8F0-91D8-E8AA-E6E2-7623E0A2A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Procrustes analysis</a:t>
            </a:r>
          </a:p>
          <a:p>
            <a:pPr lvl="1"/>
            <a:r>
              <a:rPr lang="en-US" dirty="0"/>
              <a:t>https://en.wikipedia.org/wiki/Procrustes_analysis</a:t>
            </a:r>
          </a:p>
          <a:p>
            <a:r>
              <a:rPr lang="en-US" dirty="0"/>
              <a:t>Steps</a:t>
            </a:r>
          </a:p>
          <a:p>
            <a:pPr lvl="1"/>
            <a:r>
              <a:rPr lang="en-US" dirty="0"/>
              <a:t>Scaling of both configurations to the same size;</a:t>
            </a:r>
          </a:p>
          <a:p>
            <a:pPr lvl="1"/>
            <a:r>
              <a:rPr lang="en-US" dirty="0"/>
              <a:t>Transposition to the same position of the center of gravity;</a:t>
            </a:r>
          </a:p>
          <a:p>
            <a:pPr lvl="1"/>
            <a:r>
              <a:rPr lang="en-US" dirty="0"/>
              <a:t>Rotation to the orientation that provides the minimum sum of squared distances between corresponding landmarks.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F362C4-A81E-B1B1-5EC7-32790C63F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BE0F-D557-44B3-BF6A-3490D7124ADA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97C0CE9-C0BB-867E-CF02-A903E86D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5E55F8-2A61-634F-9FFA-07F279D3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5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E648A22-3D3F-87DC-2042-4DBD33BEC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464" y="4595068"/>
            <a:ext cx="6733050" cy="256681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D5F06BF-1733-AF0A-CB3C-430FF70D8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1268" y="971525"/>
            <a:ext cx="3576327" cy="267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92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5E0D87-0E96-B4ED-6D8C-997DF0A7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Procrustes analysis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556B38-85B9-7290-EBA4-4773B5B15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Orthogonal </a:t>
            </a:r>
            <a:r>
              <a:rPr lang="en-US" dirty="0" err="1"/>
              <a:t>procrustes</a:t>
            </a:r>
            <a:r>
              <a:rPr lang="en-US" dirty="0"/>
              <a:t> problem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solution is obtained with the singular value decomposition</a:t>
            </a:r>
          </a:p>
          <a:p>
            <a:endParaRPr lang="en-US" dirty="0"/>
          </a:p>
          <a:p>
            <a:pPr marL="108000" indent="0">
              <a:buNone/>
            </a:pPr>
            <a:endParaRPr lang="en-US" dirty="0"/>
          </a:p>
          <a:p>
            <a:r>
              <a:rPr lang="en-US" dirty="0"/>
              <a:t>See icp_ex.py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2BF6F74-A071-AA6E-74D3-6B16B7C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4162-37B4-4274-8972-FF1D677198B7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AB86C3-1064-9FFB-BE1A-4CF701972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4C650E-654D-69D0-B594-8A1C244F2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6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7F531CE-EB4C-1DDF-4B95-9A85699BA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73" y="1681200"/>
            <a:ext cx="4419600" cy="161925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457A29A-E6EF-FFD6-F577-9F802932E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908" y="3697513"/>
            <a:ext cx="1936329" cy="126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52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162B89-D763-DF88-C7DF-18EB59825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Open3D </a:t>
            </a:r>
            <a:r>
              <a:rPr lang="it-IT" dirty="0" err="1"/>
              <a:t>registration</a:t>
            </a:r>
            <a:r>
              <a:rPr lang="it-IT" dirty="0"/>
              <a:t> pipelines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C1C8FE-196D-5E22-C5F8-1AFC77CDF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</a:t>
            </a:r>
          </a:p>
          <a:p>
            <a:pPr lvl="1"/>
            <a:r>
              <a:rPr lang="en-US" dirty="0"/>
              <a:t>ICP, comparing point to point and point to plane distances</a:t>
            </a:r>
          </a:p>
          <a:p>
            <a:pPr lvl="2"/>
            <a:r>
              <a:rPr lang="en-US" dirty="0"/>
              <a:t>icp_registration.py</a:t>
            </a:r>
          </a:p>
          <a:p>
            <a:pPr lvl="1"/>
            <a:r>
              <a:rPr lang="en-US" dirty="0"/>
              <a:t>Colored </a:t>
            </a:r>
            <a:r>
              <a:rPr lang="en-US" dirty="0" err="1"/>
              <a:t>icp</a:t>
            </a:r>
            <a:endParaRPr lang="en-US" dirty="0"/>
          </a:p>
          <a:p>
            <a:pPr lvl="2"/>
            <a:r>
              <a:rPr lang="en-US" dirty="0"/>
              <a:t>colored_icp_registration.py</a:t>
            </a:r>
          </a:p>
          <a:p>
            <a:pPr lvl="1"/>
            <a:r>
              <a:rPr lang="en-US" dirty="0"/>
              <a:t>Robust ICP</a:t>
            </a:r>
          </a:p>
          <a:p>
            <a:pPr lvl="2"/>
            <a:r>
              <a:rPr lang="en-US" dirty="0"/>
              <a:t>robust_icp.py</a:t>
            </a:r>
          </a:p>
          <a:p>
            <a:r>
              <a:rPr lang="en-US" dirty="0"/>
              <a:t>RANSAC for global registration</a:t>
            </a:r>
          </a:p>
          <a:p>
            <a:pPr lvl="1"/>
            <a:r>
              <a:rPr lang="en-US" dirty="0"/>
              <a:t>registration_ransac.py</a:t>
            </a:r>
          </a:p>
          <a:p>
            <a:pPr lvl="1"/>
            <a:r>
              <a:rPr lang="it-IT" dirty="0"/>
              <a:t>https://www.open3d.org/docs/release/tutorial/pipelines/global_registration.html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E7B0C0-622A-A575-40FA-95581CC3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005EB-D55B-4494-9DD1-B809D32BC6F2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F0C89B-1F15-683D-D15E-62494264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1415F4-455E-5292-449F-F6221D5B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7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645CD05-B3B3-B3FC-D5EB-D779366A1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161" y="2843733"/>
            <a:ext cx="3437748" cy="2928132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A4A3379-BA36-2AAC-A97C-0E30D02E7F86}"/>
              </a:ext>
            </a:extLst>
          </p:cNvPr>
          <p:cNvSpPr txBox="1"/>
          <p:nvPr/>
        </p:nvSpPr>
        <p:spPr>
          <a:xfrm>
            <a:off x="9168159" y="2528021"/>
            <a:ext cx="3312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Robust ICP: different losses</a:t>
            </a:r>
          </a:p>
        </p:txBody>
      </p:sp>
    </p:spTree>
    <p:extLst>
      <p:ext uri="{BB962C8B-B14F-4D97-AF65-F5344CB8AC3E}">
        <p14:creationId xmlns:p14="http://schemas.microsoft.com/office/powerpoint/2010/main" val="2448255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8C1848-CB93-49EF-0D3C-89BEEE906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Feature detector/</a:t>
            </a:r>
            <a:r>
              <a:rPr lang="it-IT" dirty="0" err="1"/>
              <a:t>descriptor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AD9E54-B789-9080-8773-F8B06EC1B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FPFH (Fast Point Feature </a:t>
            </a:r>
            <a:r>
              <a:rPr lang="it-IT" dirty="0" err="1"/>
              <a:t>Histogram</a:t>
            </a:r>
            <a:r>
              <a:rPr lang="it-IT" dirty="0"/>
              <a:t>, </a:t>
            </a:r>
          </a:p>
          <a:p>
            <a:pPr lvl="1"/>
            <a:r>
              <a:rPr lang="en-US" dirty="0"/>
              <a:t>it attempts to capture as best as possible the sampled surface variations by taking into account all the interactions between the directions of the estimated normal</a:t>
            </a:r>
          </a:p>
          <a:p>
            <a:pPr lvl="1"/>
            <a:r>
              <a:rPr lang="en-US" dirty="0"/>
              <a:t>Point feature histogram: capture relationships between </a:t>
            </a:r>
            <a:r>
              <a:rPr lang="en-US" dirty="0" err="1"/>
              <a:t>normals</a:t>
            </a:r>
            <a:r>
              <a:rPr lang="en-US" dirty="0"/>
              <a:t> around the point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24C319-2AAD-14F7-7493-C21F9B1B4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7EFB-AC36-469E-832F-6A302A734BC9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BA4B01-00EA-2736-E10A-596E7C6C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C50DEB3-2CFF-B4BA-ABC5-69C8B535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8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84A8327-1FB9-BC68-1FAF-8985714C9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67" y="3563813"/>
            <a:ext cx="4962128" cy="279119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9CF5636-3328-2124-0D11-2B2904DF9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575" y="3639422"/>
            <a:ext cx="5242005" cy="3189273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0D621096-67F1-B710-2979-ED33A98AA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879" y="4176000"/>
            <a:ext cx="4486901" cy="1991003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D17C22F-7C97-9214-2544-F83C716915B5}"/>
              </a:ext>
            </a:extLst>
          </p:cNvPr>
          <p:cNvSpPr txBox="1"/>
          <p:nvPr/>
        </p:nvSpPr>
        <p:spPr>
          <a:xfrm>
            <a:off x="8016031" y="6731277"/>
            <a:ext cx="6722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From PCL https://pcl.readthedocs.io/</a:t>
            </a:r>
          </a:p>
        </p:txBody>
      </p:sp>
    </p:spTree>
    <p:extLst>
      <p:ext uri="{BB962C8B-B14F-4D97-AF65-F5344CB8AC3E}">
        <p14:creationId xmlns:p14="http://schemas.microsoft.com/office/powerpoint/2010/main" val="233597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487AD3-7D20-B15E-4EC5-F5F82697D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BF9716-897D-FDEA-4D86-9D9D0DF9C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From PCL https://pcl.readthedocs.io/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0DF5378-5B57-FA21-ABA9-AC7A5B2C6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7EFB-AC36-469E-832F-6A302A734BC9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E76996-6748-AC0A-2455-B4A260230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EF1E8E-92A9-4822-B9B5-6BBF38F3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9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A4FAA75-9CD0-8239-6DF8-5C52F8AFB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54" y="2339240"/>
            <a:ext cx="10025293" cy="489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391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4ABB05-1F2F-6546-2999-E63736CF0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Meshlab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ABC336-7816-4360-01F5-BD2501B02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Easy to use tools for </a:t>
            </a:r>
            <a:r>
              <a:rPr lang="it-IT" dirty="0" err="1"/>
              <a:t>partial</a:t>
            </a:r>
            <a:r>
              <a:rPr lang="it-IT" dirty="0"/>
              <a:t> </a:t>
            </a:r>
            <a:r>
              <a:rPr lang="it-IT" dirty="0" err="1"/>
              <a:t>views</a:t>
            </a:r>
            <a:r>
              <a:rPr lang="it-IT" dirty="0"/>
              <a:t> </a:t>
            </a:r>
            <a:r>
              <a:rPr lang="it-IT" dirty="0" err="1"/>
              <a:t>registration</a:t>
            </a:r>
            <a:r>
              <a:rPr lang="it-IT" dirty="0"/>
              <a:t> and </a:t>
            </a:r>
            <a:r>
              <a:rPr lang="it-IT" dirty="0" err="1"/>
              <a:t>meshing</a:t>
            </a:r>
            <a:endParaRPr lang="it-IT" dirty="0"/>
          </a:p>
          <a:p>
            <a:r>
              <a:rPr lang="it-IT" dirty="0"/>
              <a:t>Use of point-</a:t>
            </a:r>
            <a:r>
              <a:rPr lang="it-IT" dirty="0" err="1"/>
              <a:t>based</a:t>
            </a:r>
            <a:r>
              <a:rPr lang="it-IT" dirty="0"/>
              <a:t> </a:t>
            </a:r>
            <a:r>
              <a:rPr lang="it-IT" dirty="0" err="1"/>
              <a:t>alignment</a:t>
            </a:r>
            <a:r>
              <a:rPr lang="it-IT" dirty="0"/>
              <a:t> and ICP</a:t>
            </a:r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74918A-25F9-5087-FDB9-995973E41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907CA-48C1-4CD8-9022-1A6F418FA134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D62C4F-8A44-E6DD-3CB7-2FCC9EA47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A1D70FC-707D-051C-6258-065E5EBDD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10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D67E238-5142-A002-FFD1-3FE8266B7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642" y="2915301"/>
            <a:ext cx="6831633" cy="394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21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37948A-F143-4803-98B1-9DCABB737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80" y="122400"/>
            <a:ext cx="12094568" cy="1262160"/>
          </a:xfrm>
        </p:spPr>
        <p:txBody>
          <a:bodyPr/>
          <a:lstStyle/>
          <a:p>
            <a:r>
              <a:rPr lang="it-IT" dirty="0" err="1"/>
              <a:t>Homework</a:t>
            </a:r>
            <a:r>
              <a:rPr lang="it-IT" dirty="0"/>
              <a:t>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62FC4A-D84B-BE36-C59D-5BD7F41A7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96" y="1681200"/>
            <a:ext cx="12274555" cy="4989600"/>
          </a:xfrm>
        </p:spPr>
        <p:txBody>
          <a:bodyPr/>
          <a:lstStyle/>
          <a:p>
            <a:r>
              <a:rPr lang="en-US" dirty="0"/>
              <a:t>Create al 3D point cloud from the range scan the or stereo pair (e.g., starting from the stereo or depth code)</a:t>
            </a:r>
          </a:p>
          <a:p>
            <a:r>
              <a:rPr lang="en-US" dirty="0"/>
              <a:t>The formula to convert in 3D points is the classic formula of perspective projection (you can set the axis as you prefer)</a:t>
            </a:r>
          </a:p>
          <a:p>
            <a:pPr lvl="1"/>
            <a:r>
              <a:rPr lang="en-US" dirty="0"/>
              <a:t>Z=d</a:t>
            </a:r>
          </a:p>
          <a:p>
            <a:pPr lvl="1"/>
            <a:r>
              <a:rPr lang="en-US" dirty="0"/>
              <a:t>X=(</a:t>
            </a:r>
            <a:r>
              <a:rPr lang="en-US" dirty="0" err="1"/>
              <a:t>i</a:t>
            </a:r>
            <a:r>
              <a:rPr lang="en-US" dirty="0"/>
              <a:t>-cx)d/</a:t>
            </a:r>
            <a:r>
              <a:rPr lang="en-US" dirty="0" err="1"/>
              <a:t>fx</a:t>
            </a:r>
            <a:endParaRPr lang="en-US" dirty="0"/>
          </a:p>
          <a:p>
            <a:pPr lvl="1"/>
            <a:r>
              <a:rPr lang="en-US" dirty="0"/>
              <a:t>Y=(y-cy)d/</a:t>
            </a:r>
            <a:r>
              <a:rPr lang="en-US" dirty="0" err="1"/>
              <a:t>fy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058E0A2-1774-D357-AC17-57247FCB11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1946" y="7058520"/>
            <a:ext cx="3130793" cy="349920"/>
          </a:xfrm>
        </p:spPr>
        <p:txBody>
          <a:bodyPr/>
          <a:lstStyle/>
          <a:p>
            <a:fld id="{BD741ACB-0083-4B68-B96E-2F8B16350F5B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435BC1-DDD8-0268-CFD8-6C9A5D7E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6118" y="7041605"/>
            <a:ext cx="4259665" cy="366839"/>
          </a:xfrm>
        </p:spPr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C03243-6D00-B51C-5244-49C7AF87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35721" y="7058520"/>
            <a:ext cx="3130793" cy="349920"/>
          </a:xfrm>
        </p:spPr>
        <p:txBody>
          <a:bodyPr/>
          <a:lstStyle/>
          <a:p>
            <a:fld id="{8B04B791-897E-4328-B3FD-2D81E4AD606D}" type="slidenum">
              <a:rPr lang="it-IT" smtClean="0"/>
              <a:pPr/>
              <a:t>11</a:t>
            </a:fld>
            <a:endParaRPr lang="it-IT"/>
          </a:p>
        </p:txBody>
      </p:sp>
      <p:pic>
        <p:nvPicPr>
          <p:cNvPr id="15" name="Immagine 14" descr="Immagine che contiene diagramma, schermata, testo, rosa&#10;&#10;Descrizione generata automaticamente">
            <a:extLst>
              <a:ext uri="{FF2B5EF4-FFF2-40B4-BE49-F238E27FC236}">
                <a16:creationId xmlns:a16="http://schemas.microsoft.com/office/drawing/2014/main" id="{D245EA6D-53C7-ECDC-E291-11AA9BE781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786" y="3520144"/>
            <a:ext cx="4252728" cy="235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7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F99C38-6E20-C9B0-6FB4-3CB14A65B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80" y="122400"/>
            <a:ext cx="12094568" cy="1262160"/>
          </a:xfrm>
        </p:spPr>
        <p:txBody>
          <a:bodyPr/>
          <a:lstStyle/>
          <a:p>
            <a:r>
              <a:rPr lang="it-IT" dirty="0" err="1"/>
              <a:t>Homework</a:t>
            </a:r>
            <a:r>
              <a:rPr lang="it-IT" dirty="0"/>
              <a:t>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496F0C-E304-13E3-012C-E8AC1AE3A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96" y="1681200"/>
            <a:ext cx="12274555" cy="4989600"/>
          </a:xfrm>
        </p:spPr>
        <p:txBody>
          <a:bodyPr/>
          <a:lstStyle/>
          <a:p>
            <a:r>
              <a:rPr lang="en-US" dirty="0"/>
              <a:t>If you use the range image, not all the pixels on the range image are the projection of a point on the 3D space! Check if there is a code for non valid depths (zeros or negative values). Which is the unit of the depth?</a:t>
            </a:r>
            <a:endParaRPr lang="it-IT" dirty="0"/>
          </a:p>
          <a:p>
            <a:r>
              <a:rPr lang="en-US" dirty="0"/>
              <a:t>Create a mesh from the point cloud exploiting the known connectivity</a:t>
            </a:r>
          </a:p>
          <a:p>
            <a:r>
              <a:rPr lang="en-US" dirty="0"/>
              <a:t>Points are on a regular grid where the connectivity can be inherited from the pixel </a:t>
            </a:r>
            <a:r>
              <a:rPr lang="en-US" dirty="0" err="1"/>
              <a:t>neighbourhood</a:t>
            </a:r>
            <a:r>
              <a:rPr lang="en-US" dirty="0"/>
              <a:t>,  </a:t>
            </a:r>
          </a:p>
          <a:p>
            <a:r>
              <a:rPr lang="en-US" dirty="0"/>
              <a:t>You need to triangulate the mesh in the right way!</a:t>
            </a:r>
          </a:p>
          <a:p>
            <a:pPr lvl="1"/>
            <a:r>
              <a:rPr lang="en-US" dirty="0"/>
              <a:t>Coherent triangle orientation</a:t>
            </a:r>
          </a:p>
          <a:p>
            <a:pPr lvl="1"/>
            <a:r>
              <a:rPr lang="it-IT" dirty="0" err="1"/>
              <a:t>Consider</a:t>
            </a:r>
            <a:r>
              <a:rPr lang="it-IT" dirty="0"/>
              <a:t> </a:t>
            </a:r>
            <a:r>
              <a:rPr lang="it-IT" dirty="0" err="1"/>
              <a:t>noise</a:t>
            </a:r>
            <a:r>
              <a:rPr lang="it-IT" dirty="0"/>
              <a:t>/</a:t>
            </a:r>
            <a:r>
              <a:rPr lang="it-IT" dirty="0" err="1"/>
              <a:t>missing</a:t>
            </a:r>
            <a:r>
              <a:rPr lang="it-IT" dirty="0"/>
              <a:t> data:  </a:t>
            </a:r>
            <a:r>
              <a:rPr lang="en-US" dirty="0"/>
              <a:t>nearby pixels may not correspond to nearby points on the 3D cloud due to noise/errors in disparity or depth estimation</a:t>
            </a:r>
          </a:p>
          <a:p>
            <a:pPr lvl="2"/>
            <a:r>
              <a:rPr lang="en-US" dirty="0"/>
              <a:t>a “robust” strategy can be used (e.g., not connecting long edges)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D485F38-DEC1-38E4-37EB-BAA4F94AD0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1946" y="7058520"/>
            <a:ext cx="3130793" cy="349920"/>
          </a:xfrm>
        </p:spPr>
        <p:txBody>
          <a:bodyPr/>
          <a:lstStyle/>
          <a:p>
            <a:fld id="{7E72A12E-10B4-4B10-B907-CFB580FFDFA1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EC0DC2-12FE-2BCE-E545-798AE572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6118" y="7041605"/>
            <a:ext cx="4259665" cy="366839"/>
          </a:xfrm>
        </p:spPr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08DB457-9407-4344-FE8E-53A014DD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35721" y="7058520"/>
            <a:ext cx="3130793" cy="349920"/>
          </a:xfrm>
        </p:spPr>
        <p:txBody>
          <a:bodyPr/>
          <a:lstStyle/>
          <a:p>
            <a:fld id="{8B04B791-897E-4328-B3FD-2D81E4AD606D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9427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E97DEF-064B-3372-2715-863E187ED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How to </a:t>
            </a:r>
            <a:r>
              <a:rPr lang="it-IT" dirty="0" err="1"/>
              <a:t>save</a:t>
            </a:r>
            <a:r>
              <a:rPr lang="it-IT" dirty="0"/>
              <a:t> the mesh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98A8E5-FBCB-1BF6-E6E3-B0D17DD2C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96" y="1681199"/>
            <a:ext cx="12274555" cy="5360405"/>
          </a:xfrm>
        </p:spPr>
        <p:txBody>
          <a:bodyPr/>
          <a:lstStyle/>
          <a:p>
            <a:r>
              <a:rPr lang="it-IT" dirty="0"/>
              <a:t>Option 1</a:t>
            </a:r>
          </a:p>
          <a:p>
            <a:pPr lvl="1"/>
            <a:r>
              <a:rPr lang="it-IT" dirty="0"/>
              <a:t>Complete the writing procedure of </a:t>
            </a:r>
          </a:p>
          <a:p>
            <a:pPr marL="108000" indent="0">
              <a:buNone/>
            </a:pP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write_ply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verts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colors):</a:t>
            </a:r>
          </a:p>
          <a:p>
            <a:pPr marL="10800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verts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verts.reshape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(-1, 3)</a:t>
            </a:r>
          </a:p>
          <a:p>
            <a:pPr marL="10800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colors =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colors.reshape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(-1, 3)</a:t>
            </a:r>
          </a:p>
          <a:p>
            <a:pPr marL="10800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verts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np.hstack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verts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colors])</a:t>
            </a:r>
          </a:p>
          <a:p>
            <a:pPr marL="10800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with open(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'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f:</a:t>
            </a:r>
          </a:p>
          <a:p>
            <a:pPr marL="10800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f.write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ply_header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%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vert_num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verts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))).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encode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('utf-8'))</a:t>
            </a:r>
          </a:p>
          <a:p>
            <a:pPr marL="108000" indent="0">
              <a:buNone/>
            </a:pP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np.savetxt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(f,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verts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it-IT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='%f %f %f %d %d %d ‘)</a:t>
            </a:r>
            <a:endParaRPr lang="it-IT" dirty="0"/>
          </a:p>
          <a:p>
            <a:pPr lvl="1"/>
            <a:r>
              <a:rPr lang="it-IT" dirty="0" err="1"/>
              <a:t>Adding</a:t>
            </a:r>
            <a:r>
              <a:rPr lang="it-IT" dirty="0"/>
              <a:t> the </a:t>
            </a:r>
            <a:r>
              <a:rPr lang="it-IT" dirty="0" err="1"/>
              <a:t>missing</a:t>
            </a:r>
            <a:r>
              <a:rPr lang="it-IT" dirty="0"/>
              <a:t> parts to </a:t>
            </a:r>
            <a:r>
              <a:rPr lang="it-IT" dirty="0" err="1"/>
              <a:t>save</a:t>
            </a:r>
            <a:r>
              <a:rPr lang="it-IT" dirty="0"/>
              <a:t> a mesh </a:t>
            </a:r>
            <a:r>
              <a:rPr lang="it-IT" dirty="0" err="1"/>
              <a:t>according</a:t>
            </a:r>
            <a:r>
              <a:rPr lang="it-IT" dirty="0"/>
              <a:t> to the template </a:t>
            </a:r>
            <a:r>
              <a:rPr lang="it-IT" dirty="0" err="1"/>
              <a:t>you</a:t>
            </a:r>
            <a:r>
              <a:rPr lang="it-IT" dirty="0"/>
              <a:t> can </a:t>
            </a:r>
            <a:r>
              <a:rPr lang="it-IT" dirty="0" err="1"/>
              <a:t>find</a:t>
            </a:r>
            <a:r>
              <a:rPr lang="it-IT" dirty="0"/>
              <a:t> in </a:t>
            </a:r>
          </a:p>
          <a:p>
            <a:pPr lvl="2"/>
            <a:r>
              <a:rPr lang="it-IT" dirty="0">
                <a:hlinkClick r:id="rId2"/>
              </a:rPr>
              <a:t>https://en.wikipedia.org/wiki/PLY_(</a:t>
            </a:r>
            <a:r>
              <a:rPr lang="it-IT" dirty="0" err="1">
                <a:hlinkClick r:id="rId2"/>
              </a:rPr>
              <a:t>file_format</a:t>
            </a:r>
            <a:r>
              <a:rPr lang="it-IT" dirty="0">
                <a:hlinkClick r:id="rId2"/>
              </a:rPr>
              <a:t>)</a:t>
            </a:r>
            <a:endParaRPr lang="it-IT" dirty="0"/>
          </a:p>
          <a:p>
            <a:pPr lvl="1"/>
            <a:r>
              <a:rPr lang="it-IT" dirty="0" err="1"/>
              <a:t>Need</a:t>
            </a:r>
            <a:r>
              <a:rPr lang="it-IT" dirty="0"/>
              <a:t> to </a:t>
            </a:r>
            <a:r>
              <a:rPr lang="it-IT" dirty="0" err="1"/>
              <a:t>add</a:t>
            </a:r>
            <a:r>
              <a:rPr lang="it-IT" dirty="0"/>
              <a:t> a line in the </a:t>
            </a:r>
            <a:r>
              <a:rPr lang="it-IT" dirty="0" err="1"/>
              <a:t>header</a:t>
            </a:r>
            <a:r>
              <a:rPr lang="it-IT" dirty="0"/>
              <a:t> </a:t>
            </a:r>
          </a:p>
          <a:p>
            <a:pPr lvl="2"/>
            <a:r>
              <a:rPr lang="it-IT" dirty="0" err="1"/>
              <a:t>element</a:t>
            </a:r>
            <a:r>
              <a:rPr lang="it-IT" dirty="0"/>
              <a:t> face (</a:t>
            </a:r>
            <a:r>
              <a:rPr lang="it-IT" dirty="0" err="1"/>
              <a:t>n.faces</a:t>
            </a:r>
            <a:r>
              <a:rPr lang="it-IT" dirty="0"/>
              <a:t>)</a:t>
            </a:r>
          </a:p>
          <a:p>
            <a:pPr lvl="2"/>
            <a:r>
              <a:rPr lang="it-IT" dirty="0"/>
              <a:t>and lines with </a:t>
            </a:r>
            <a:r>
              <a:rPr lang="it-IT" dirty="0" err="1"/>
              <a:t>faces</a:t>
            </a:r>
            <a:r>
              <a:rPr lang="it-IT" dirty="0"/>
              <a:t> after the vertex list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DAF17A-3654-E747-DAD2-29E8899C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7EFB-AC36-469E-832F-6A302A734BC9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D78AC6-974B-5B62-E015-94D19EE61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D6A562-1130-7518-BFE3-20A658435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4299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C25040-DC90-8C47-5DA8-3A834C28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How to </a:t>
            </a:r>
            <a:r>
              <a:rPr lang="it-IT" dirty="0" err="1"/>
              <a:t>save</a:t>
            </a:r>
            <a:r>
              <a:rPr lang="it-IT" dirty="0"/>
              <a:t> the mesh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C98BEA-E7E1-033C-DE8F-3BEAE5440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However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can use the open3d </a:t>
            </a:r>
            <a:r>
              <a:rPr lang="it-IT" dirty="0" err="1"/>
              <a:t>functions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well</a:t>
            </a:r>
            <a:endParaRPr lang="it-IT" dirty="0"/>
          </a:p>
          <a:p>
            <a:pPr marL="108000" indent="0">
              <a:buNone/>
            </a:pPr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mesh = o3d.geometry.TriangleMesh()</a:t>
            </a:r>
          </a:p>
          <a:p>
            <a:pPr marL="108000" indent="0">
              <a:buNone/>
            </a:pPr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108000" indent="0">
              <a:buNone/>
            </a:pPr>
            <a:r>
              <a:rPr lang="it-IT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mesh.vertices</a:t>
            </a:r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o3d.utility.Vector3dVector(…) # put </a:t>
            </a:r>
            <a:r>
              <a:rPr lang="it-IT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arrays with </a:t>
            </a:r>
            <a:r>
              <a:rPr lang="it-IT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coordinates</a:t>
            </a:r>
            <a:endParaRPr lang="it-IT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00" indent="0">
              <a:buNone/>
            </a:pPr>
            <a:r>
              <a:rPr lang="it-IT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mesh.triangles</a:t>
            </a:r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o3d.utility.Vector3iVector(…)</a:t>
            </a:r>
          </a:p>
          <a:p>
            <a:pPr marL="108000" indent="0">
              <a:buNone/>
            </a:pPr>
            <a:r>
              <a:rPr lang="it-IT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o3d.visualization.draw_geometries([mesh])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800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# Save the mesh to a .ply file</a:t>
            </a:r>
          </a:p>
          <a:p>
            <a:pPr marL="10800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o3d.io.write_triangle_mesh("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output_mesh.ply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", mesh)</a:t>
            </a:r>
            <a:endParaRPr lang="it-IT" dirty="0"/>
          </a:p>
          <a:p>
            <a:r>
              <a:rPr lang="it-IT" dirty="0"/>
              <a:t>https://www.open3d.org/docs/latest/python_api/open3d.io.write_triangle_mesh.html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60B43E-2E64-1437-BEEC-72E94A402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7EFB-AC36-469E-832F-6A302A734BC9}" type="datetime1">
              <a:rPr lang="it-IT" smtClean="0"/>
              <a:t>23/03/2026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0E2C95-EE16-12A4-76A9-B42FED089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AVC 24/25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DA61A33-62B4-50C4-1A38-E75446D7A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4B791-897E-4328-B3FD-2D81E4AD606D}" type="slidenum">
              <a:rPr lang="it-IT" smtClean="0"/>
              <a:pPr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0624502"/>
      </p:ext>
    </p:extLst>
  </p:cSld>
  <p:clrMapOvr>
    <a:masterClrMapping/>
  </p:clrMapOvr>
</p:sld>
</file>

<file path=ppt/theme/theme1.xml><?xml version="1.0" encoding="utf-8"?>
<a:theme xmlns:a="http://schemas.openxmlformats.org/drawingml/2006/main" name="lez1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3F5592A4ADA142965D394470E5BDCC" ma:contentTypeVersion="18" ma:contentTypeDescription="Creare un nuovo documento." ma:contentTypeScope="" ma:versionID="16c1fc67e0964c4d38efecdd28d8fa2f">
  <xsd:schema xmlns:xsd="http://www.w3.org/2001/XMLSchema" xmlns:xs="http://www.w3.org/2001/XMLSchema" xmlns:p="http://schemas.microsoft.com/office/2006/metadata/properties" xmlns:ns3="6b4d3ab7-1470-4128-9622-ec1cbb31ed76" xmlns:ns4="6e7c07e5-4464-4a81-82bd-bfb2b8f1e56b" targetNamespace="http://schemas.microsoft.com/office/2006/metadata/properties" ma:root="true" ma:fieldsID="2aaf83fee18be6c0bc1d39586c11fdee" ns3:_="" ns4:_="">
    <xsd:import namespace="6b4d3ab7-1470-4128-9622-ec1cbb31ed76"/>
    <xsd:import namespace="6e7c07e5-4464-4a81-82bd-bfb2b8f1e5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4d3ab7-1470-4128-9622-ec1cbb31ed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c07e5-4464-4a81-82bd-bfb2b8f1e56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4d3ab7-1470-4128-9622-ec1cbb31ed7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6590C2-FA63-4781-AFEF-83BE335735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4d3ab7-1470-4128-9622-ec1cbb31ed76"/>
    <ds:schemaRef ds:uri="6e7c07e5-4464-4a81-82bd-bfb2b8f1e5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FB213B-1BC7-44D2-A873-8D8A7D7FD452}">
  <ds:schemaRefs>
    <ds:schemaRef ds:uri="http://schemas.openxmlformats.org/package/2006/metadata/core-properties"/>
    <ds:schemaRef ds:uri="6b4d3ab7-1470-4128-9622-ec1cbb31ed76"/>
    <ds:schemaRef ds:uri="http://purl.org/dc/elements/1.1/"/>
    <ds:schemaRef ds:uri="http://www.w3.org/XML/1998/namespace"/>
    <ds:schemaRef ds:uri="http://schemas.microsoft.com/office/2006/documentManagement/types"/>
    <ds:schemaRef ds:uri="6e7c07e5-4464-4a81-82bd-bfb2b8f1e56b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987F9D8-BB39-4B50-9844-B26F81374B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36443</TotalTime>
  <Words>929</Words>
  <Application>Microsoft Office PowerPoint</Application>
  <PresentationFormat>Personalizzato</PresentationFormat>
  <Paragraphs>137</Paragraphs>
  <Slides>14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6" baseType="lpstr">
      <vt:lpstr>Verdana</vt:lpstr>
      <vt:lpstr>Abadi</vt:lpstr>
      <vt:lpstr>StarSymbol</vt:lpstr>
      <vt:lpstr>Courier New</vt:lpstr>
      <vt:lpstr>Qlassik Bold</vt:lpstr>
      <vt:lpstr>Rockwell</vt:lpstr>
      <vt:lpstr>Sketch Block</vt:lpstr>
      <vt:lpstr>Calibri</vt:lpstr>
      <vt:lpstr>Arial</vt:lpstr>
      <vt:lpstr>Symbol</vt:lpstr>
      <vt:lpstr>Qlassik Medium</vt:lpstr>
      <vt:lpstr>lez11</vt:lpstr>
      <vt:lpstr>Advanced Visual Computing </vt:lpstr>
      <vt:lpstr>Depth Camera</vt:lpstr>
      <vt:lpstr>Open3D</vt:lpstr>
      <vt:lpstr>ICP</vt:lpstr>
      <vt:lpstr>Procrustes analysis</vt:lpstr>
      <vt:lpstr>Procrustes analysis</vt:lpstr>
      <vt:lpstr>Open3D registration pipelines</vt:lpstr>
      <vt:lpstr>Feature detector/descriptor</vt:lpstr>
      <vt:lpstr>Presentazione standard di PowerPoint</vt:lpstr>
      <vt:lpstr>Meshlab</vt:lpstr>
      <vt:lpstr>Homework 2</vt:lpstr>
      <vt:lpstr>Homework 2</vt:lpstr>
      <vt:lpstr>How to save the mesh</vt:lpstr>
      <vt:lpstr>How to save the mesh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Human-Computer Interaction - Interazione Uomo Macchina</dc:title>
  <dc:creator>andrea giachetti</dc:creator>
  <cp:lastModifiedBy>Andrea Giachetti</cp:lastModifiedBy>
  <cp:revision>747</cp:revision>
  <cp:lastPrinted>2020-03-10T15:42:29Z</cp:lastPrinted>
  <dcterms:created xsi:type="dcterms:W3CDTF">2007-04-16T16:52:06Z</dcterms:created>
  <dcterms:modified xsi:type="dcterms:W3CDTF">2026-03-23T15:00:14Z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  <property fmtid="{D5CDD505-2E9C-101B-9397-08002B2CF9AE}" pid="6" name="ContentTypeId">
    <vt:lpwstr>0x010100BB3F5592A4ADA142965D394470E5BDCC</vt:lpwstr>
  </property>
</Properties>
</file>